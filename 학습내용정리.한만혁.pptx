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xlsx" ContentType="application/vnd.openxmlformats-officedocument.spreadsheetml.sheet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4607" r:id="rId16"/>
  </p:sldMasterIdLst>
  <p:notesMasterIdLst>
    <p:notesMasterId r:id="rId20"/>
  </p:notesMasterIdLst>
  <p:handoutMasterIdLst>
    <p:handoutMasterId r:id="rId18"/>
  </p:handoutMasterIdLst>
  <p:sldIdLst>
    <p:sldId id="270" r:id="rId22"/>
    <p:sldId id="682" r:id="rId24"/>
    <p:sldId id="691" r:id="rId25"/>
    <p:sldId id="692" r:id="rId27"/>
    <p:sldId id="693" r:id="rId29"/>
    <p:sldId id="695" r:id="rId31"/>
    <p:sldId id="696" r:id="rId33"/>
    <p:sldId id="697" r:id="rId35"/>
    <p:sldId id="698" r:id="rId37"/>
    <p:sldId id="704" r:id="rId39"/>
    <p:sldId id="706" r:id="rId41"/>
    <p:sldId id="699" r:id="rId43"/>
    <p:sldId id="700" r:id="rId45"/>
    <p:sldId id="701" r:id="rId47"/>
    <p:sldId id="702" r:id="rId49"/>
    <p:sldId id="703" r:id="rId51"/>
    <p:sldId id="684" r:id="rId53"/>
    <p:sldId id="644" r:id="rId55"/>
    <p:sldId id="685" r:id="rId56"/>
    <p:sldId id="686" r:id="rId58"/>
    <p:sldId id="683" r:id="rId60"/>
    <p:sldId id="687" r:id="rId62"/>
    <p:sldId id="688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82"/>
            <p14:sldId id="691"/>
            <p14:sldId id="692"/>
            <p14:sldId id="693"/>
            <p14:sldId id="695"/>
            <p14:sldId id="696"/>
            <p14:sldId id="697"/>
            <p14:sldId id="698"/>
            <p14:sldId id="704"/>
            <p14:sldId id="706"/>
            <p14:sldId id="699"/>
            <p14:sldId id="700"/>
            <p14:sldId id="701"/>
            <p14:sldId id="702"/>
            <p14:sldId id="703"/>
            <p14:sldId id="684"/>
            <p14:sldId id="644"/>
            <p14:sldId id="685"/>
            <p14:sldId id="686"/>
            <p14:sldId id="683"/>
            <p14:sldId id="687"/>
            <p14:sldId id="6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0" userDrawn="1">
          <p15:clr>
            <a:srgbClr val="A4A3A4"/>
          </p15:clr>
        </p15:guide>
        <p15:guide id="2" pos="253" userDrawn="1">
          <p15:clr>
            <a:srgbClr val="A4A3A4"/>
          </p15:clr>
        </p15:guide>
        <p15:guide id="3" pos="7397" userDrawn="1">
          <p15:clr>
            <a:srgbClr val="A4A3A4"/>
          </p15:clr>
        </p15:guide>
        <p15:guide id="4" orient="horz" pos="41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1651" autoAdjust="0"/>
    <p:restoredTop sz="95520" autoAdjust="0"/>
  </p:normalViewPr>
  <p:slideViewPr>
    <p:cSldViewPr snapToGrid="0" snapToObjects="1">
      <p:cViewPr varScale="1">
        <p:scale>
          <a:sx n="86" d="100"/>
          <a:sy n="86" d="100"/>
        </p:scale>
        <p:origin x="120" y="234"/>
      </p:cViewPr>
      <p:guideLst>
        <p:guide orient="horz" pos="160"/>
        <p:guide pos="253"/>
        <p:guide pos="7397"/>
        <p:guide orient="horz" pos="41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2448" y="90"/>
      </p:cViewPr>
      <p:guideLst>
        <p:guide orient="horz" pos="160"/>
        <p:guide pos="253"/>
        <p:guide pos="7397"/>
        <p:guide orient="horz" pos="4106"/>
      </p:guideLst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6" Type="http://schemas.openxmlformats.org/officeDocument/2006/relationships/slideMaster" Target="slideMasters/slideMaster1.xml"></Relationship><Relationship Id="rId17" Type="http://schemas.openxmlformats.org/officeDocument/2006/relationships/theme" Target="theme/theme1.xml"></Relationship><Relationship Id="rId18" Type="http://schemas.openxmlformats.org/officeDocument/2006/relationships/handoutMaster" Target="handoutMasters/handoutMaster1.xml"></Relationship><Relationship Id="rId20" Type="http://schemas.openxmlformats.org/officeDocument/2006/relationships/notesMaster" Target="notesMasters/notesMaster1.xml"></Relationship><Relationship Id="rId22" Type="http://schemas.openxmlformats.org/officeDocument/2006/relationships/slide" Target="slides/slide1.xml"></Relationship><Relationship Id="rId24" Type="http://schemas.openxmlformats.org/officeDocument/2006/relationships/slide" Target="slides/slide2.xml"></Relationship><Relationship Id="rId25" Type="http://schemas.openxmlformats.org/officeDocument/2006/relationships/slide" Target="slides/slide3.xml"></Relationship><Relationship Id="rId27" Type="http://schemas.openxmlformats.org/officeDocument/2006/relationships/slide" Target="slides/slide4.xml"></Relationship><Relationship Id="rId29" Type="http://schemas.openxmlformats.org/officeDocument/2006/relationships/slide" Target="slides/slide5.xml"></Relationship><Relationship Id="rId31" Type="http://schemas.openxmlformats.org/officeDocument/2006/relationships/slide" Target="slides/slide6.xml"></Relationship><Relationship Id="rId33" Type="http://schemas.openxmlformats.org/officeDocument/2006/relationships/slide" Target="slides/slide7.xml"></Relationship><Relationship Id="rId35" Type="http://schemas.openxmlformats.org/officeDocument/2006/relationships/slide" Target="slides/slide8.xml"></Relationship><Relationship Id="rId37" Type="http://schemas.openxmlformats.org/officeDocument/2006/relationships/slide" Target="slides/slide9.xml"></Relationship><Relationship Id="rId39" Type="http://schemas.openxmlformats.org/officeDocument/2006/relationships/slide" Target="slides/slide10.xml"></Relationship><Relationship Id="rId41" Type="http://schemas.openxmlformats.org/officeDocument/2006/relationships/slide" Target="slides/slide11.xml"></Relationship><Relationship Id="rId43" Type="http://schemas.openxmlformats.org/officeDocument/2006/relationships/slide" Target="slides/slide12.xml"></Relationship><Relationship Id="rId45" Type="http://schemas.openxmlformats.org/officeDocument/2006/relationships/slide" Target="slides/slide13.xml"></Relationship><Relationship Id="rId47" Type="http://schemas.openxmlformats.org/officeDocument/2006/relationships/slide" Target="slides/slide14.xml"></Relationship><Relationship Id="rId49" Type="http://schemas.openxmlformats.org/officeDocument/2006/relationships/slide" Target="slides/slide15.xml"></Relationship><Relationship Id="rId51" Type="http://schemas.openxmlformats.org/officeDocument/2006/relationships/slide" Target="slides/slide16.xml"></Relationship><Relationship Id="rId53" Type="http://schemas.openxmlformats.org/officeDocument/2006/relationships/slide" Target="slides/slide17.xml"></Relationship><Relationship Id="rId55" Type="http://schemas.openxmlformats.org/officeDocument/2006/relationships/slide" Target="slides/slide18.xml"></Relationship><Relationship Id="rId56" Type="http://schemas.openxmlformats.org/officeDocument/2006/relationships/slide" Target="slides/slide19.xml"></Relationship><Relationship Id="rId58" Type="http://schemas.openxmlformats.org/officeDocument/2006/relationships/slide" Target="slides/slide20.xml"></Relationship><Relationship Id="rId60" Type="http://schemas.openxmlformats.org/officeDocument/2006/relationships/slide" Target="slides/slide21.xml"></Relationship><Relationship Id="rId62" Type="http://schemas.openxmlformats.org/officeDocument/2006/relationships/slide" Target="slides/slide22.xml"></Relationship><Relationship Id="rId64" Type="http://schemas.openxmlformats.org/officeDocument/2006/relationships/slide" Target="slides/slide23.xml"></Relationship><Relationship Id="rId67" Type="http://schemas.openxmlformats.org/officeDocument/2006/relationships/viewProps" Target="viewProps.xml"></Relationship><Relationship Id="rId68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72,'0'24,"0"0,0 0,24-24,0 0,-24 24,0 0,0 0,0 0,24-24,-24 24,0 0,0 0,0 0,24-24,-24 24,0 0,0-48,0 0,0 0,0 0,24 0,-24 0,24 24,-24-24,0 0,24 24,-24-24,24 0,-24 0,24 24,0 0,-24-24,24 24,-24-24,24 24,0 0,-24-24,24 24,0 0,0 0,0 0,0 0,1 0,-25-24,24 24,0 0,0 0,0 0,0 0,0 0,0 0,-24-24,0 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0,'24'0,"0"0,0 0,0 0,0 0,0 0,0 0,0 0,0 0,0 24,0-24,0 0,0 0,0 24,0-24,0 0,0 0,0 0,1 0,-1 0,-24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0,'24'0,"-24"24,24-24,0 0,0 0,0 0,-24 24,24-24,0 0,0 0,0 0,0 0,0 24,0-24,-24 24,48-24,-24 0,0 0,0 0,-24 24,24-24,1 0,-25 0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CA"/>
              <a:t>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820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2957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96999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116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49289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94740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8599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4.gif"/></Relationships>
</file>

<file path=ppt/slideLayouts/_rels/slideLayout1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1030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775"/>
            <a:ext cx="10515600" cy="505650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DD61FD73-F43C-4CEC-A4BC-4F63297EBA95}" type="datetimeFigureOut">
              <a:rPr lang="en-CA" smtClean="0"/>
              <a:t>2026-07-09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slideLayout" Target="../slideLayouts/slideLayout12.xml"></Relationship><Relationship Id="rId13" Type="http://schemas.openxmlformats.org/officeDocument/2006/relationships/slideLayout" Target="../slideLayouts/slideLayout13.xml"></Relationship><Relationship Id="rId14" Type="http://schemas.openxmlformats.org/officeDocument/2006/relationships/slideLayout" Target="../slideLayouts/slideLayout14.xml"></Relationship><Relationship Id="rId15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2" r:id="rId1"/>
    <p:sldLayoutId id="2147484583" r:id="rId2"/>
    <p:sldLayoutId id="2147484584" r:id="rId3"/>
    <p:sldLayoutId id="2147484585" r:id="rId4"/>
    <p:sldLayoutId id="2147484586" r:id="rId5"/>
    <p:sldLayoutId id="2147484587" r:id="rId6"/>
    <p:sldLayoutId id="2147484588" r:id="rId7"/>
    <p:sldLayoutId id="2147484589" r:id="rId8"/>
    <p:sldLayoutId id="2147484590" r:id="rId9"/>
    <p:sldLayoutId id="2147484591" r:id="rId10"/>
    <p:sldLayoutId id="2147484592" r:id="rId11"/>
    <p:sldLayoutId id="2147484593" r:id="rId12"/>
    <p:sldLayoutId id="2147484594" r:id="rId13"/>
    <p:sldLayoutId id="2147484595" r:id="rId14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1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9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fImage1054025941.png"></Relationship><Relationship Id="rId4" Type="http://schemas.openxmlformats.org/officeDocument/2006/relationships/notesSlide" Target="../notesSlides/notesSlide3.xml"></Relationship><Relationship Id="rId5" Type="http://schemas.openxmlformats.org/officeDocument/2006/relationships/image" Target="../media/fImage1465240741.png"></Relationship><Relationship Id="rId6" Type="http://schemas.openxmlformats.org/officeDocument/2006/relationships/slideLayout" Target="../slideLayouts/slideLayout1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356002646334.png"></Relationship><Relationship Id="rId3" Type="http://schemas.openxmlformats.org/officeDocument/2006/relationships/image" Target="../media/fImage156472656500.png"></Relationship><Relationship Id="rId4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231612829169.png"></Relationship><Relationship Id="rId3" Type="http://schemas.openxmlformats.org/officeDocument/2006/relationships/image" Target="../media/fImage162292835724.png"></Relationship><Relationship Id="rId4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77852911478.png"></Relationship><Relationship Id="rId3" Type="http://schemas.openxmlformats.org/officeDocument/2006/relationships/image" Target="../media/fImage116952929358.png"></Relationship><Relationship Id="rId4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image" Target="../media/fImage207943026962.png"></Relationship><Relationship Id="rId4" Type="http://schemas.openxmlformats.org/officeDocument/2006/relationships/notesSlide" Target="../notesSlides/notesSlide7.xml"></Relationship><Relationship Id="rId5" Type="http://schemas.openxmlformats.org/officeDocument/2006/relationships/image" Target="../media/fImage162804088467.png"></Relationship><Relationship Id="rId6" Type="http://schemas.openxmlformats.org/officeDocument/2006/relationships/slideLayout" Target="../slideLayouts/slideLayout13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174113135705.png"></Relationship><Relationship Id="rId3" Type="http://schemas.openxmlformats.org/officeDocument/2006/relationships/image" Target="../media/fImage186583148145.png"></Relationship><Relationship Id="rId4" Type="http://schemas.openxmlformats.org/officeDocument/2006/relationships/image" Target="../media/fImage166214643281.png"></Relationship><Relationship Id="rId5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157053256827.png"></Relationship><Relationship Id="rId3" Type="http://schemas.openxmlformats.org/officeDocument/2006/relationships/image" Target="../media/fImage179233289961.png"></Relationship><Relationship Id="rId4" Type="http://schemas.openxmlformats.org/officeDocument/2006/relationships/image" Target="../media/fImage13703494491.png"></Relationship><Relationship Id="rId5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1333704512995.png"></Relationship><Relationship Id="rId3" Type="http://schemas.openxmlformats.org/officeDocument/2006/relationships/image" Target="../media/fImage281804521942.png"></Relationship><Relationship Id="rId4" Type="http://schemas.openxmlformats.org/officeDocument/2006/relationships/image" Target="../media/fImage384306194827.png"></Relationship><Relationship Id="rId5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70613385436.png"></Relationship><Relationship Id="rId3" Type="http://schemas.openxmlformats.org/officeDocument/2006/relationships/image" Target="../media/fImage133045262391.png"></Relationship><Relationship Id="rId4" Type="http://schemas.openxmlformats.org/officeDocument/2006/relationships/notesSlide" Target="../notesSlides/notesSlide1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290203464604.png"></Relationship><Relationship Id="rId3" Type="http://schemas.openxmlformats.org/officeDocument/2006/relationships/image" Target="../media/fImage273475513902.png"></Relationship><Relationship Id="rId4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31707359153.png"></Relationship><Relationship Id="rId3" Type="http://schemas.openxmlformats.org/officeDocument/2006/relationships/image" Target="../media/fImage33253594292.png"></Relationship><Relationship Id="rId4" Type="http://schemas.openxmlformats.org/officeDocument/2006/relationships/notesSlide" Target="../notesSlides/notesSlide14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166123782382.png"></Relationship><Relationship Id="rId3" Type="http://schemas.openxmlformats.org/officeDocument/2006/relationships/image" Target="../media/fImage244713797421.png"></Relationship><Relationship Id="rId4" Type="http://schemas.openxmlformats.org/officeDocument/2006/relationships/notesSlide" Target="../notesSlides/notesSlide15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image" Target="../media/fImage124283898716.png"></Relationship><Relationship Id="rId3" Type="http://schemas.openxmlformats.org/officeDocument/2006/relationships/image" Target="../media/fImage364685649718.png"></Relationship><Relationship Id="rId4" Type="http://schemas.openxmlformats.org/officeDocument/2006/relationships/customXml" Target="../ink/ink1.xml"></Relationship><Relationship Id="rId5" Type="http://schemas.openxmlformats.org/officeDocument/2006/relationships/image" Target="../media/fImage25566489895.emf"></Relationship><Relationship Id="rId6" Type="http://schemas.openxmlformats.org/officeDocument/2006/relationships/customXml" Target="../ink/ink2.xml"></Relationship><Relationship Id="rId7" Type="http://schemas.openxmlformats.org/officeDocument/2006/relationships/image" Target="../media/fImage12366495447.emf"></Relationship><Relationship Id="rId8" Type="http://schemas.openxmlformats.org/officeDocument/2006/relationships/customXml" Target="../ink/ink3.xml"></Relationship><Relationship Id="rId9" Type="http://schemas.openxmlformats.org/officeDocument/2006/relationships/image" Target="../media/fImage13166501726.emf"></Relationship><Relationship Id="rId10" Type="http://schemas.openxmlformats.org/officeDocument/2006/relationships/notesSlide" Target="../notesSlides/notesSlide16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notesSlide" Target="../notesSlides/notesSlide17.xml"></Relationship><Relationship Id="rId3" Type="http://schemas.openxmlformats.org/officeDocument/2006/relationships/slideLayout" Target="../slideLayouts/slideLayout13.xml"></Relationship></Relationships>
</file>

<file path=ppt/slides/_rels/slide18.xml.rels><?xml version="1.0" encoding="UTF-8"?>
<Relationships xmlns="http://schemas.openxmlformats.org/package/2006/relationships"><Relationship Id="rId2" Type="http://schemas.openxmlformats.org/officeDocument/2006/relationships/notesSlide" Target="../notesSlides/notesSlide18.xml"></Relationship><Relationship Id="rId6" Type="http://schemas.openxmlformats.org/officeDocument/2006/relationships/image" Target="../media/fImage205706254771.png"></Relationship><Relationship Id="rId7" Type="http://schemas.openxmlformats.org/officeDocument/2006/relationships/image" Target="../media/fImage331356261538.png"></Relationship><Relationship Id="rId8" Type="http://schemas.openxmlformats.org/officeDocument/2006/relationships/image" Target="../media/fImage140326301869.png"></Relationship><Relationship Id="rId9" Type="http://schemas.openxmlformats.org/officeDocument/2006/relationships/image" Target="../media/fImage311726359912.png"></Relationship><Relationship Id="rId10" Type="http://schemas.openxmlformats.org/officeDocument/2006/relationships/image" Target="../media/fImage428296375667.png"></Relationship><Relationship Id="rId11" Type="http://schemas.openxmlformats.org/officeDocument/2006/relationships/image" Target="../media/fImage141946386299.png"></Relationship><Relationship Id="rId12" Type="http://schemas.openxmlformats.org/officeDocument/2006/relationships/slideLayout" Target="../slideLayouts/slideLayout13.xml"></Relationship></Relationships>
</file>

<file path=ppt/slides/_rels/slide19.xml.rels><?xml version="1.0" encoding="UTF-8"?>
<Relationships xmlns="http://schemas.openxmlformats.org/package/2006/relationships"><Relationship Id="rId2" Type="http://schemas.openxmlformats.org/officeDocument/2006/relationships/notesSlide" Target="../notesSlides/notesSlide19.xml"></Relationship><Relationship Id="rId4" Type="http://schemas.openxmlformats.org/officeDocument/2006/relationships/image" Target="../media/fImage804204457035.png"></Relationship><Relationship Id="rId5" Type="http://schemas.openxmlformats.org/officeDocument/2006/relationships/image" Target="../media/fImage1045964479894.png"></Relationship><Relationship Id="rId6" Type="http://schemas.openxmlformats.org/officeDocument/2006/relationships/image" Target="../media/fImage606184488703.png"></Relationship><Relationship Id="rId7" Type="http://schemas.openxmlformats.org/officeDocument/2006/relationships/slideLayout" Target="../slideLayouts/slideLayout13.xml"></Relationship></Relationships>
</file>

<file path=ppt/slides/_rels/slide20.xml.rels><?xml version="1.0" encoding="UTF-8"?>
<Relationships xmlns="http://schemas.openxmlformats.org/package/2006/relationships"><Relationship Id="rId2" Type="http://schemas.openxmlformats.org/officeDocument/2006/relationships/notesSlide" Target="../notesSlides/notesSlide20.xml"></Relationship><Relationship Id="rId4" Type="http://schemas.openxmlformats.org/officeDocument/2006/relationships/image" Target="../media/fImage1759831741.png"></Relationship><Relationship Id="rId5" Type="http://schemas.openxmlformats.org/officeDocument/2006/relationships/slideLayout" Target="../slideLayouts/slideLayout13.xml"></Relationship></Relationships>
</file>

<file path=ppt/slides/_rels/slide21.xml.rels><?xml version="1.0" encoding="UTF-8"?>
<Relationships xmlns="http://schemas.openxmlformats.org/package/2006/relationships"><Relationship Id="rId3" Type="http://schemas.openxmlformats.org/officeDocument/2006/relationships/image" Target="../media/image20.png"></Relationship><Relationship Id="rId2" Type="http://schemas.openxmlformats.org/officeDocument/2006/relationships/notesSlide" Target="../notesSlides/notesSlide21.xml"></Relationship><Relationship Id="rId1" Type="http://schemas.openxmlformats.org/officeDocument/2006/relationships/slideLayout" Target="../slideLayouts/slideLayout13.xml"></Relationship><Relationship Id="rId4" Type="http://schemas.openxmlformats.org/officeDocument/2006/relationships/image" Target="../media/image21.png"></Relationship></Relationships>
</file>

<file path=ppt/slides/_rels/slide22.xml.rels><?xml version="1.0" encoding="UTF-8"?>
<Relationships xmlns="http://schemas.openxmlformats.org/package/2006/relationships"><Relationship Id="rId3" Type="http://schemas.openxmlformats.org/officeDocument/2006/relationships/image" Target="../media/image22.png"></Relationship><Relationship Id="rId2" Type="http://schemas.openxmlformats.org/officeDocument/2006/relationships/notesSlide" Target="../notesSlides/notesSlide22.xml"></Relationship><Relationship Id="rId1" Type="http://schemas.openxmlformats.org/officeDocument/2006/relationships/slideLayout" Target="../slideLayouts/slideLayout13.xml"></Relationship><Relationship Id="rId5" Type="http://schemas.openxmlformats.org/officeDocument/2006/relationships/image" Target="../media/image24.png"></Relationship><Relationship Id="rId4" Type="http://schemas.openxmlformats.org/officeDocument/2006/relationships/image" Target="../media/image23.png"></Relationship></Relationships>
</file>

<file path=ppt/slides/_rels/slide23.xml.rels><?xml version="1.0" encoding="UTF-8"?>
<Relationships xmlns="http://schemas.openxmlformats.org/package/2006/relationships"><Relationship Id="rId3" Type="http://schemas.openxmlformats.org/officeDocument/2006/relationships/image" Target="../media/image25.png"></Relationship><Relationship Id="rId2" Type="http://schemas.openxmlformats.org/officeDocument/2006/relationships/notesSlide" Target="../notesSlides/notesSlide23.xml"></Relationship><Relationship Id="rId1" Type="http://schemas.openxmlformats.org/officeDocument/2006/relationships/slideLayout" Target="../slideLayouts/slideLayout13.xml"></Relationship><Relationship Id="rId5" Type="http://schemas.openxmlformats.org/officeDocument/2006/relationships/image" Target="../media/image27.png"></Relationship><Relationship Id="rId4" Type="http://schemas.openxmlformats.org/officeDocument/2006/relationships/image" Target="../media/image26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6"/>
            <a:ext cx="7689344" cy="802161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SoC 102: Design</a:t>
            </a:r>
            <a:r>
              <a:rPr lang="en-US" altLang="ko-KR" dirty="0">
                <a:latin typeface="+mj-lt"/>
              </a:rPr>
              <a:t/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3917510"/>
            <a:ext cx="7689344" cy="438950"/>
          </a:xfrm>
        </p:spPr>
        <p:txBody>
          <a:bodyPr/>
          <a:lstStyle/>
          <a:p>
            <a:r>
              <a:rPr lang="ko-KR" altLang="en-US" b="1" dirty="0"/>
              <a:t>중간점검</a:t>
            </a:r>
            <a:r>
              <a:rPr lang="en-US" altLang="ko-KR" b="1" dirty="0"/>
              <a:t>: Basic Sequential Logic Circuit / Synthesis / PNR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581001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한만혁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 noGrp="1"/>
          </p:cNvSpPr>
          <p:nvPr>
            <p:ph type="obj" sz="quarter" idx="11"/>
          </p:nvPr>
        </p:nvSpPr>
        <p:spPr>
          <a:xfrm rot="0">
            <a:off x="434975" y="564515"/>
            <a:ext cx="7689215" cy="5010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10000"/>
          </a:bodyPr>
          <a:lstStyle/>
          <a:p>
            <a:pPr marL="0" indent="0">
              <a:buFontTx/>
              <a:buNone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4" name="Content Placeholder 2"/>
          <p:cNvSpPr txBox="1">
            <a:spLocks noGrp="1"/>
          </p:cNvSpPr>
          <p:nvPr/>
        </p:nvSpPr>
        <p:spPr>
          <a:xfrm rot="0">
            <a:off x="7378065" y="812165"/>
            <a:ext cx="7689215" cy="1420495"/>
          </a:xfrm>
          <a:prstGeom prst="rect"/>
        </p:spPr>
        <p:txBody>
          <a:bodyPr wrap="square" lIns="91440" tIns="45720" rIns="91440" bIns="45720" numCol="1" vert="horz" anchor="t">
            <a:normAutofit fontScale="25000" lnSpcReduction="20000"/>
          </a:bodyPr>
          <a:lstStyle/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맑은 고딕" charset="0"/>
                <a:ea typeface="맑은 고딕" charset="0"/>
              </a:rPr>
              <a:t>조합논리회로(C</a:t>
            </a:r>
            <a:r>
              <a:rPr lang="ko-KR" altLang="en-US" sz="5600" spc="-140" b="1">
                <a:latin typeface="맑은 고딕" charset="0"/>
                <a:ea typeface="맑은 고딕" charset="0"/>
              </a:rPr>
              <a:t>OM</a:t>
            </a:r>
            <a:r>
              <a:rPr lang="ko-KR" altLang="en-US" sz="5600" spc="-140" b="1">
                <a:latin typeface="맑은 고딕" charset="0"/>
                <a:ea typeface="맑은 고딕" charset="0"/>
              </a:rPr>
              <a:t>B</a:t>
            </a:r>
            <a:r>
              <a:rPr lang="ko-KR" altLang="en-US" sz="5600" spc="-140" b="1">
                <a:latin typeface="맑은 고딕" charset="0"/>
                <a:ea typeface="맑은 고딕" charset="0"/>
              </a:rPr>
              <a:t>)</a:t>
            </a:r>
            <a:endParaRPr lang="ko-KR" altLang="en-US" sz="5600" b="1">
              <a:latin typeface="맑은 고딕" charset="0"/>
              <a:ea typeface="맑은 고딕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맑은 고딕" charset="0"/>
                <a:ea typeface="맑은 고딕" charset="0"/>
              </a:rPr>
              <a:t>	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M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UX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E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NCODER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D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ECODER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 C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OMPARATOR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 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3_STATE_BUS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ko-KR" altLang="en-US" sz="5600" b="1">
              <a:solidFill>
                <a:schemeClr val="bg1"/>
              </a:solidFill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맑은 고딕" charset="0"/>
                <a:ea typeface="맑은 고딕" charset="0"/>
              </a:rPr>
              <a:t>순서논리회로(S</a:t>
            </a:r>
            <a:r>
              <a:rPr lang="ko-KR" altLang="en-US" sz="5600" spc="-140" b="1">
                <a:latin typeface="맑은 고딕" charset="0"/>
                <a:ea typeface="맑은 고딕" charset="0"/>
              </a:rPr>
              <a:t>EQ)</a:t>
            </a:r>
            <a:endParaRPr lang="ko-KR" altLang="en-US" sz="5600" b="1">
              <a:latin typeface="맑은 고딕" charset="0"/>
              <a:ea typeface="맑은 고딕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맑은 고딕" charset="0"/>
                <a:ea typeface="맑은 고딕" charset="0"/>
              </a:rPr>
              <a:t>	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 L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ATCH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 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REGISTER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 F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REQ_DI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V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IDER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 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SHIFT_REGI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S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TER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 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REGISTER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_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MAP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추가학습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8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-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b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it AL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U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(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산술 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연산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기)</a:t>
            </a:r>
            <a:endParaRPr lang="ko-KR" altLang="en-US" sz="5600" b="1">
              <a:latin typeface="Arial" charset="0"/>
              <a:ea typeface="Arial" charset="0"/>
              <a:sym typeface="Arial" charset="0"/>
            </a:endParaRPr>
          </a:p>
          <a:p>
            <a:pPr marL="0" indent="0" rtl="0" algn="l" defTabSz="914400" eaLnBrk="1" latin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	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•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 카운터(D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ebounce </a:t>
            </a:r>
            <a:r>
              <a:rPr lang="ko-KR" altLang="en-US" sz="5600" spc="-140" b="1">
                <a:latin typeface="Arial" charset="0"/>
                <a:ea typeface="Arial" charset="0"/>
                <a:sym typeface="Arial" charset="0"/>
              </a:rPr>
              <a:t>추가)</a:t>
            </a:r>
            <a:endParaRPr lang="ko-KR" altLang="en-US" sz="5600" b="1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49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pic>
        <p:nvPicPr>
          <p:cNvPr id="3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3120" y="1432560"/>
            <a:ext cx="2578100" cy="3458210"/>
          </a:xfrm>
          <a:prstGeom prst="rect"/>
          <a:noFill/>
        </p:spPr>
      </p:pic>
      <p:sp>
        <p:nvSpPr>
          <p:cNvPr id="4" name="제목 5"/>
          <p:cNvSpPr txBox="1">
            <a:spLocks noGrp="1"/>
          </p:cNvSpPr>
          <p:nvPr/>
        </p:nvSpPr>
        <p:spPr>
          <a:xfrm rot="0">
            <a:off x="835025" y="904875"/>
            <a:ext cx="286893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M</a:t>
            </a:r>
            <a:r>
              <a:rPr lang="ko-KR" sz="2000" b="1">
                <a:latin typeface="+mj-lt"/>
                <a:ea typeface="+mj-ea"/>
                <a:cs typeface="+mj-cs"/>
              </a:rPr>
              <a:t>UX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sp>
        <p:nvSpPr>
          <p:cNvPr id="6" name="텍스트 상자 79"/>
          <p:cNvSpPr txBox="1">
            <a:spLocks/>
          </p:cNvSpPr>
          <p:nvPr/>
        </p:nvSpPr>
        <p:spPr>
          <a:xfrm rot="0">
            <a:off x="840105" y="5334635"/>
            <a:ext cx="5637530" cy="3086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여러개의 </a:t>
            </a:r>
            <a:r>
              <a:rPr lang="ko-KR" sz="1400">
                <a:latin typeface="맑은 고딕" charset="0"/>
                <a:ea typeface="맑은 고딕" charset="0"/>
              </a:rPr>
              <a:t>입</a:t>
            </a:r>
            <a:r>
              <a:rPr lang="ko-KR" sz="1400">
                <a:latin typeface="맑은 고딕" charset="0"/>
                <a:ea typeface="맑은 고딕" charset="0"/>
              </a:rPr>
              <a:t>력 신호 중 </a:t>
            </a:r>
            <a:r>
              <a:rPr lang="ko-KR" sz="1400">
                <a:latin typeface="맑은 고딕" charset="0"/>
                <a:ea typeface="맑은 고딕" charset="0"/>
              </a:rPr>
              <a:t>선</a:t>
            </a:r>
            <a:r>
              <a:rPr lang="ko-KR" sz="1400">
                <a:latin typeface="맑은 고딕" charset="0"/>
                <a:ea typeface="맑은 고딕" charset="0"/>
              </a:rPr>
              <a:t>택 </a:t>
            </a:r>
            <a:r>
              <a:rPr lang="ko-KR" sz="1400">
                <a:latin typeface="맑은 고딕" charset="0"/>
                <a:ea typeface="맑은 고딕" charset="0"/>
              </a:rPr>
              <a:t>신</a:t>
            </a:r>
            <a:r>
              <a:rPr lang="ko-KR" sz="1400">
                <a:latin typeface="맑은 고딕" charset="0"/>
                <a:ea typeface="맑은 고딕" charset="0"/>
              </a:rPr>
              <a:t>호(</a:t>
            </a:r>
            <a:r>
              <a:rPr lang="ko-KR" sz="1400">
                <a:latin typeface="맑은 고딕" charset="0"/>
                <a:ea typeface="맑은 고딕" charset="0"/>
              </a:rPr>
              <a:t>sel</a:t>
            </a:r>
            <a:r>
              <a:rPr lang="ko-KR" sz="1400">
                <a:latin typeface="맑은 고딕" charset="0"/>
                <a:ea typeface="맑은 고딕" charset="0"/>
              </a:rPr>
              <a:t>e</a:t>
            </a:r>
            <a:r>
              <a:rPr lang="ko-KR" sz="1400">
                <a:latin typeface="맑은 고딕" charset="0"/>
                <a:ea typeface="맑은 고딕" charset="0"/>
              </a:rPr>
              <a:t>ct)</a:t>
            </a:r>
            <a:r>
              <a:rPr lang="ko-KR" sz="1400">
                <a:latin typeface="맑은 고딕" charset="0"/>
                <a:ea typeface="맑은 고딕" charset="0"/>
              </a:rPr>
              <a:t>에 </a:t>
            </a:r>
            <a:r>
              <a:rPr lang="ko-KR" sz="1400">
                <a:latin typeface="맑은 고딕" charset="0"/>
                <a:ea typeface="맑은 고딕" charset="0"/>
              </a:rPr>
              <a:t>따</a:t>
            </a:r>
            <a:r>
              <a:rPr lang="ko-KR" sz="1400">
                <a:latin typeface="맑은 고딕" charset="0"/>
                <a:ea typeface="맑은 고딕" charset="0"/>
              </a:rPr>
              <a:t>라 </a:t>
            </a:r>
            <a:r>
              <a:rPr lang="ko-KR" sz="1400" b="1">
                <a:latin typeface="맑은 고딕" charset="0"/>
                <a:ea typeface="맑은 고딕" charset="0"/>
              </a:rPr>
              <a:t>하나</a:t>
            </a:r>
            <a:r>
              <a:rPr lang="ko-KR" sz="1400" b="1">
                <a:latin typeface="맑은 고딕" charset="0"/>
                <a:ea typeface="맑은 고딕" charset="0"/>
              </a:rPr>
              <a:t>의 </a:t>
            </a:r>
            <a:r>
              <a:rPr lang="ko-KR" sz="1400" b="1">
                <a:latin typeface="맑은 고딕" charset="0"/>
                <a:ea typeface="맑은 고딕" charset="0"/>
              </a:rPr>
              <a:t>신호</a:t>
            </a:r>
            <a:r>
              <a:rPr lang="ko-KR" sz="1400">
                <a:latin typeface="맑은 고딕" charset="0"/>
                <a:ea typeface="맑은 고딕" charset="0"/>
              </a:rPr>
              <a:t>만 출력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pic>
        <p:nvPicPr>
          <p:cNvPr id="7" name="그림 1" descr="C:/Users/user/AppData/Roaming/PolarisOffice/ETemp/19868_14363296/fImage14652407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755390" y="1428750"/>
            <a:ext cx="3350895" cy="14230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pic>
        <p:nvPicPr>
          <p:cNvPr id="3" name="그림 9" descr="C:/Users/user/AppData/Roaming/PolarisOffice/ETemp/9132_12101376/fImage35600264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9470" y="1362710"/>
            <a:ext cx="4068445" cy="4676775"/>
          </a:xfrm>
          <a:prstGeom prst="rect"/>
          <a:noFill/>
        </p:spPr>
      </p:pic>
      <p:pic>
        <p:nvPicPr>
          <p:cNvPr id="4" name="그림 10" descr="C:/Users/user/AppData/Roaming/PolarisOffice/ETemp/9132_12101376/fImage1564726565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215255" y="1365250"/>
            <a:ext cx="4972685" cy="2305685"/>
          </a:xfrm>
          <a:prstGeom prst="rect"/>
          <a:noFill/>
        </p:spPr>
      </p:pic>
      <p:sp>
        <p:nvSpPr>
          <p:cNvPr id="5" name="텍스트 상자 11"/>
          <p:cNvSpPr txBox="1">
            <a:spLocks noGrp="1"/>
          </p:cNvSpPr>
          <p:nvPr/>
        </p:nvSpPr>
        <p:spPr>
          <a:xfrm rot="0">
            <a:off x="835025" y="904875"/>
            <a:ext cx="673925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E</a:t>
            </a:r>
            <a:r>
              <a:rPr lang="ko-KR" sz="2000" b="1">
                <a:latin typeface="+mj-lt"/>
                <a:ea typeface="+mj-ea"/>
                <a:cs typeface="+mj-cs"/>
              </a:rPr>
              <a:t>NCODER</a:t>
            </a:r>
            <a:r>
              <a:rPr lang="ko-KR" sz="2000" b="1">
                <a:latin typeface="+mj-lt"/>
                <a:ea typeface="+mj-ea"/>
                <a:cs typeface="+mj-cs"/>
              </a:rPr>
              <a:t>(In</a:t>
            </a:r>
            <a:r>
              <a:rPr lang="ko-KR" sz="2000" b="1">
                <a:latin typeface="+mj-lt"/>
                <a:ea typeface="+mj-ea"/>
                <a:cs typeface="+mj-cs"/>
              </a:rPr>
              <a:t>terrupt_</a:t>
            </a:r>
            <a:r>
              <a:rPr lang="ko-KR" sz="2000" b="1">
                <a:latin typeface="+mj-lt"/>
                <a:ea typeface="+mj-ea"/>
                <a:cs typeface="+mj-cs"/>
              </a:rPr>
              <a:t>c</a:t>
            </a:r>
            <a:r>
              <a:rPr lang="ko-KR" sz="2000" b="1">
                <a:latin typeface="+mj-lt"/>
                <a:ea typeface="+mj-ea"/>
                <a:cs typeface="+mj-cs"/>
              </a:rPr>
              <a:t>on</a:t>
            </a:r>
            <a:r>
              <a:rPr lang="ko-KR" sz="2000" b="1">
                <a:latin typeface="+mj-lt"/>
                <a:ea typeface="+mj-ea"/>
                <a:cs typeface="+mj-cs"/>
              </a:rPr>
              <a:t>t</a:t>
            </a:r>
            <a:r>
              <a:rPr lang="ko-KR" sz="2000" b="1">
                <a:latin typeface="+mj-lt"/>
                <a:ea typeface="+mj-ea"/>
                <a:cs typeface="+mj-cs"/>
              </a:rPr>
              <a:t>roller</a:t>
            </a:r>
            <a:r>
              <a:rPr lang="ko-KR" sz="2000" b="1">
                <a:latin typeface="+mj-lt"/>
                <a:ea typeface="+mj-ea"/>
                <a:cs typeface="+mj-cs"/>
              </a:rPr>
              <a:t>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sp>
        <p:nvSpPr>
          <p:cNvPr id="7" name="텍스트 상자 82"/>
          <p:cNvSpPr txBox="1">
            <a:spLocks/>
          </p:cNvSpPr>
          <p:nvPr/>
        </p:nvSpPr>
        <p:spPr>
          <a:xfrm rot="0">
            <a:off x="5215255" y="3891280"/>
            <a:ext cx="5637530" cy="9544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400">
                <a:latin typeface="맑은 고딕" charset="0"/>
                <a:ea typeface="맑은 고딕" charset="0"/>
              </a:rPr>
              <a:t>여러개</a:t>
            </a:r>
            <a:r>
              <a:rPr lang="ko-KR" sz="1400">
                <a:latin typeface="맑은 고딕" charset="0"/>
                <a:ea typeface="맑은 고딕" charset="0"/>
              </a:rPr>
              <a:t>의 </a:t>
            </a:r>
            <a:r>
              <a:rPr lang="ko-KR" sz="1400">
                <a:latin typeface="맑은 고딕" charset="0"/>
                <a:ea typeface="맑은 고딕" charset="0"/>
              </a:rPr>
              <a:t>입력</a:t>
            </a:r>
            <a:r>
              <a:rPr lang="ko-KR" sz="1400">
                <a:latin typeface="맑은 고딕" charset="0"/>
                <a:ea typeface="맑은 고딕" charset="0"/>
              </a:rPr>
              <a:t>을 </a:t>
            </a:r>
            <a:r>
              <a:rPr lang="ko-KR" sz="1400">
                <a:latin typeface="맑은 고딕" charset="0"/>
                <a:ea typeface="맑은 고딕" charset="0"/>
              </a:rPr>
              <a:t>압</a:t>
            </a:r>
            <a:r>
              <a:rPr lang="ko-KR" sz="1400">
                <a:latin typeface="맑은 고딕" charset="0"/>
                <a:ea typeface="맑은 고딕" charset="0"/>
              </a:rPr>
              <a:t>축된 </a:t>
            </a:r>
            <a:r>
              <a:rPr lang="ko-KR" sz="1400">
                <a:latin typeface="맑은 고딕" charset="0"/>
                <a:ea typeface="맑은 고딕" charset="0"/>
              </a:rPr>
              <a:t>이진코드</a:t>
            </a:r>
            <a:r>
              <a:rPr lang="ko-KR" sz="1400">
                <a:latin typeface="맑은 고딕" charset="0"/>
                <a:ea typeface="맑은 고딕" charset="0"/>
              </a:rPr>
              <a:t>로 </a:t>
            </a:r>
            <a:r>
              <a:rPr lang="ko-KR" sz="1400">
                <a:latin typeface="맑은 고딕" charset="0"/>
                <a:ea typeface="맑은 고딕" charset="0"/>
              </a:rPr>
              <a:t>변</a:t>
            </a:r>
            <a:r>
              <a:rPr lang="ko-KR" sz="1400">
                <a:latin typeface="맑은 고딕" charset="0"/>
                <a:ea typeface="맑은 고딕" charset="0"/>
              </a:rPr>
              <a:t>환(</a:t>
            </a:r>
            <a:r>
              <a:rPr lang="ko-KR" sz="1400">
                <a:latin typeface="맑은 고딕" charset="0"/>
                <a:ea typeface="맑은 고딕" charset="0"/>
              </a:rPr>
              <a:t>8</a:t>
            </a:r>
            <a:r>
              <a:rPr lang="ko-KR" sz="1400">
                <a:latin typeface="맑은 고딕" charset="0"/>
                <a:ea typeface="맑은 고딕" charset="0"/>
              </a:rPr>
              <a:t>b</a:t>
            </a:r>
            <a:r>
              <a:rPr lang="ko-KR" sz="1400">
                <a:latin typeface="맑은 고딕" charset="0"/>
                <a:ea typeface="맑은 고딕" charset="0"/>
              </a:rPr>
              <a:t>it -</a:t>
            </a:r>
            <a:r>
              <a:rPr lang="ko-KR" sz="1400">
                <a:latin typeface="맑은 고딕" charset="0"/>
                <a:ea typeface="맑은 고딕" charset="0"/>
              </a:rPr>
              <a:t>&gt;</a:t>
            </a:r>
            <a:r>
              <a:rPr lang="ko-KR" sz="1400">
                <a:latin typeface="맑은 고딕" charset="0"/>
                <a:ea typeface="맑은 고딕" charset="0"/>
              </a:rPr>
              <a:t> 3</a:t>
            </a:r>
            <a:r>
              <a:rPr lang="ko-KR" sz="1400">
                <a:latin typeface="맑은 고딕" charset="0"/>
                <a:ea typeface="맑은 고딕" charset="0"/>
              </a:rPr>
              <a:t>b</a:t>
            </a:r>
            <a:r>
              <a:rPr lang="ko-KR" sz="1400">
                <a:latin typeface="맑은 고딕" charset="0"/>
                <a:ea typeface="맑은 고딕" charset="0"/>
              </a:rPr>
              <a:t>it)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-</a:t>
            </a:r>
            <a:r>
              <a:rPr sz="1400">
                <a:latin typeface="맑은 고딕" charset="0"/>
                <a:ea typeface="맑은 고딕" charset="0"/>
              </a:rPr>
              <a:t>8</a:t>
            </a:r>
            <a:r>
              <a:rPr sz="1400">
                <a:latin typeface="맑은 고딕" charset="0"/>
                <a:ea typeface="맑은 고딕" charset="0"/>
              </a:rPr>
              <a:t>개</a:t>
            </a:r>
            <a:r>
              <a:rPr lang="ko-KR" sz="1400">
                <a:latin typeface="맑은 고딕" charset="0"/>
                <a:ea typeface="맑은 고딕" charset="0"/>
              </a:rPr>
              <a:t>의 </a:t>
            </a:r>
            <a:r>
              <a:rPr lang="ko-KR" sz="1400">
                <a:latin typeface="맑은 고딕" charset="0"/>
                <a:ea typeface="맑은 고딕" charset="0"/>
              </a:rPr>
              <a:t>개</a:t>
            </a:r>
            <a:r>
              <a:rPr lang="ko-KR" sz="1400">
                <a:latin typeface="맑은 고딕" charset="0"/>
                <a:ea typeface="맑은 고딕" charset="0"/>
              </a:rPr>
              <a:t>별 </a:t>
            </a:r>
            <a:r>
              <a:rPr lang="ko-KR" sz="1400">
                <a:latin typeface="맑은 고딕" charset="0"/>
                <a:ea typeface="맑은 고딕" charset="0"/>
              </a:rPr>
              <a:t>인터럽</a:t>
            </a:r>
            <a:r>
              <a:rPr lang="ko-KR" sz="1400">
                <a:latin typeface="맑은 고딕" charset="0"/>
                <a:ea typeface="맑은 고딕" charset="0"/>
              </a:rPr>
              <a:t>트 </a:t>
            </a:r>
            <a:r>
              <a:rPr lang="ko-KR" sz="1400">
                <a:latin typeface="맑은 고딕" charset="0"/>
                <a:ea typeface="맑은 고딕" charset="0"/>
              </a:rPr>
              <a:t>요청신</a:t>
            </a:r>
            <a:r>
              <a:rPr lang="ko-KR" sz="1400">
                <a:latin typeface="맑은 고딕" charset="0"/>
                <a:ea typeface="맑은 고딕" charset="0"/>
              </a:rPr>
              <a:t>호(</a:t>
            </a:r>
            <a:r>
              <a:rPr lang="ko-KR" sz="1400">
                <a:latin typeface="맑은 고딕" charset="0"/>
                <a:ea typeface="맑은 고딕" charset="0"/>
              </a:rPr>
              <a:t>비</a:t>
            </a:r>
            <a:r>
              <a:rPr lang="ko-KR" sz="1400">
                <a:latin typeface="맑은 고딕" charset="0"/>
                <a:ea typeface="맑은 고딕" charset="0"/>
              </a:rPr>
              <a:t>트 </a:t>
            </a:r>
            <a:r>
              <a:rPr lang="ko-KR" sz="1400">
                <a:latin typeface="맑은 고딕" charset="0"/>
                <a:ea typeface="맑은 고딕" charset="0"/>
              </a:rPr>
              <a:t>7</a:t>
            </a:r>
            <a:r>
              <a:rPr lang="ko-KR" sz="1400">
                <a:latin typeface="맑은 고딕" charset="0"/>
                <a:ea typeface="맑은 고딕" charset="0"/>
              </a:rPr>
              <a:t>이 </a:t>
            </a:r>
            <a:r>
              <a:rPr lang="ko-KR" sz="1400">
                <a:latin typeface="맑은 고딕" charset="0"/>
                <a:ea typeface="맑은 고딕" charset="0"/>
              </a:rPr>
              <a:t>가</a:t>
            </a:r>
            <a:r>
              <a:rPr lang="ko-KR" sz="1400">
                <a:latin typeface="맑은 고딕" charset="0"/>
                <a:ea typeface="맑은 고딕" charset="0"/>
              </a:rPr>
              <a:t>장 </a:t>
            </a:r>
            <a:r>
              <a:rPr lang="ko-KR" sz="1400">
                <a:latin typeface="맑은 고딕" charset="0"/>
                <a:ea typeface="맑은 고딕" charset="0"/>
              </a:rPr>
              <a:t>높</a:t>
            </a:r>
            <a:r>
              <a:rPr lang="ko-KR" sz="1400">
                <a:latin typeface="맑은 고딕" charset="0"/>
                <a:ea typeface="맑은 고딕" charset="0"/>
              </a:rPr>
              <a:t>은 </a:t>
            </a:r>
            <a:r>
              <a:rPr lang="ko-KR" sz="1400">
                <a:latin typeface="맑은 고딕" charset="0"/>
                <a:ea typeface="맑은 고딕" charset="0"/>
              </a:rPr>
              <a:t>우선순</a:t>
            </a:r>
            <a:r>
              <a:rPr lang="ko-KR" sz="1400">
                <a:latin typeface="맑은 고딕" charset="0"/>
                <a:ea typeface="맑은 고딕" charset="0"/>
              </a:rPr>
              <a:t>위)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-A</a:t>
            </a:r>
            <a:r>
              <a:rPr lang="ko-KR" sz="1400">
                <a:latin typeface="맑은 고딕" charset="0"/>
                <a:ea typeface="맑은 고딕" charset="0"/>
              </a:rPr>
              <a:t>ck: </a:t>
            </a:r>
            <a:r>
              <a:rPr lang="ko-KR" sz="1400">
                <a:latin typeface="맑은 고딕" charset="0"/>
                <a:ea typeface="맑은 고딕" charset="0"/>
              </a:rPr>
              <a:t>인터럽트 </a:t>
            </a:r>
            <a:r>
              <a:rPr lang="ko-KR" sz="1400">
                <a:latin typeface="맑은 고딕" charset="0"/>
                <a:ea typeface="맑은 고딕" charset="0"/>
              </a:rPr>
              <a:t>신호</a:t>
            </a:r>
            <a:r>
              <a:rPr lang="ko-KR" sz="1400">
                <a:latin typeface="맑은 고딕" charset="0"/>
                <a:ea typeface="맑은 고딕" charset="0"/>
              </a:rPr>
              <a:t>를 </a:t>
            </a:r>
            <a:r>
              <a:rPr lang="ko-KR" sz="1400">
                <a:latin typeface="맑은 고딕" charset="0"/>
                <a:ea typeface="맑은 고딕" charset="0"/>
              </a:rPr>
              <a:t>처리</a:t>
            </a:r>
            <a:r>
              <a:rPr lang="ko-KR" sz="1400">
                <a:latin typeface="맑은 고딕" charset="0"/>
                <a:ea typeface="맑은 고딕" charset="0"/>
              </a:rPr>
              <a:t> 완료(응답/</a:t>
            </a:r>
            <a:r>
              <a:rPr lang="ko-KR" sz="1400">
                <a:latin typeface="맑은 고딕" charset="0"/>
                <a:ea typeface="맑은 고딕" charset="0"/>
              </a:rPr>
              <a:t>확</a:t>
            </a:r>
            <a:r>
              <a:rPr lang="ko-KR" sz="1400">
                <a:latin typeface="맑은 고딕" charset="0"/>
                <a:ea typeface="맑은 고딕" charset="0"/>
              </a:rPr>
              <a:t>인)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-R</a:t>
            </a:r>
            <a:r>
              <a:rPr lang="ko-KR" sz="1400">
                <a:latin typeface="맑은 고딕" charset="0"/>
                <a:ea typeface="맑은 고딕" charset="0"/>
              </a:rPr>
              <a:t>eq: </a:t>
            </a:r>
            <a:r>
              <a:rPr lang="ko-KR" sz="1400">
                <a:latin typeface="맑은 고딕" charset="0"/>
                <a:ea typeface="맑은 고딕" charset="0"/>
              </a:rPr>
              <a:t>인터럽트 </a:t>
            </a:r>
            <a:r>
              <a:rPr lang="ko-KR" sz="1400">
                <a:latin typeface="맑은 고딕" charset="0"/>
                <a:ea typeface="맑은 고딕" charset="0"/>
              </a:rPr>
              <a:t>발</a:t>
            </a:r>
            <a:r>
              <a:rPr lang="ko-KR" sz="1400">
                <a:latin typeface="맑은 고딕" charset="0"/>
                <a:ea typeface="맑은 고딕" charset="0"/>
              </a:rPr>
              <a:t>생(</a:t>
            </a:r>
            <a:r>
              <a:rPr lang="ko-KR" sz="1400">
                <a:latin typeface="맑은 고딕" charset="0"/>
                <a:ea typeface="맑은 고딕" charset="0"/>
              </a:rPr>
              <a:t>요</a:t>
            </a:r>
            <a:r>
              <a:rPr lang="ko-KR" sz="1400">
                <a:latin typeface="맑은 고딕" charset="0"/>
                <a:ea typeface="맑은 고딕" charset="0"/>
              </a:rPr>
              <a:t>청)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371284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D</a:t>
            </a:r>
            <a:r>
              <a:rPr lang="ko-KR" sz="2000" b="1">
                <a:latin typeface="+mj-lt"/>
                <a:ea typeface="+mj-ea"/>
                <a:cs typeface="+mj-cs"/>
              </a:rPr>
              <a:t>ECODER(</a:t>
            </a:r>
            <a:r>
              <a:rPr lang="ko-KR" sz="2000" b="1">
                <a:latin typeface="+mj-lt"/>
                <a:ea typeface="+mj-ea"/>
                <a:cs typeface="+mj-cs"/>
              </a:rPr>
              <a:t>b</a:t>
            </a:r>
            <a:r>
              <a:rPr lang="ko-KR" sz="2000" b="1">
                <a:latin typeface="+mj-lt"/>
                <a:ea typeface="+mj-ea"/>
                <a:cs typeface="+mj-cs"/>
              </a:rPr>
              <a:t>cd_to_seg)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12" descr="C:/Users/user/AppData/Roaming/PolarisOffice/ETemp/9132_12101376/fImage23161282916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4390" y="1429385"/>
            <a:ext cx="3404235" cy="4841240"/>
          </a:xfrm>
          <a:prstGeom prst="rect"/>
          <a:noFill/>
        </p:spPr>
      </p:pic>
      <p:pic>
        <p:nvPicPr>
          <p:cNvPr id="7" name="그림 13" descr="C:/Users/user/AppData/Roaming/PolarisOffice/ETemp/9132_12101376/fImage16229283572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333240" y="1429385"/>
            <a:ext cx="7738745" cy="1330960"/>
          </a:xfrm>
          <a:prstGeom prst="rect"/>
          <a:noFill/>
        </p:spPr>
      </p:pic>
      <p:sp>
        <p:nvSpPr>
          <p:cNvPr id="8" name="텍스트 상자 83"/>
          <p:cNvSpPr txBox="1">
            <a:spLocks/>
          </p:cNvSpPr>
          <p:nvPr/>
        </p:nvSpPr>
        <p:spPr>
          <a:xfrm rot="0">
            <a:off x="4331970" y="2955925"/>
            <a:ext cx="5637530" cy="3086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입력된 </a:t>
            </a:r>
            <a:r>
              <a:rPr lang="ko-KR" sz="1400">
                <a:latin typeface="맑은 고딕" charset="0"/>
                <a:ea typeface="맑은 고딕" charset="0"/>
              </a:rPr>
              <a:t>이진코드</a:t>
            </a:r>
            <a:r>
              <a:rPr lang="ko-KR" sz="1400">
                <a:latin typeface="맑은 고딕" charset="0"/>
                <a:ea typeface="맑은 고딕" charset="0"/>
              </a:rPr>
              <a:t>를 </a:t>
            </a:r>
            <a:r>
              <a:rPr lang="ko-KR" sz="1400">
                <a:latin typeface="맑은 고딕" charset="0"/>
                <a:ea typeface="맑은 고딕" charset="0"/>
              </a:rPr>
              <a:t>해석하</a:t>
            </a:r>
            <a:r>
              <a:rPr lang="ko-KR" sz="1400">
                <a:latin typeface="맑은 고딕" charset="0"/>
                <a:ea typeface="맑은 고딕" charset="0"/>
              </a:rPr>
              <a:t>여, </a:t>
            </a:r>
            <a:r>
              <a:rPr lang="ko-KR" sz="1400">
                <a:latin typeface="맑은 고딕" charset="0"/>
                <a:ea typeface="맑은 고딕" charset="0"/>
              </a:rPr>
              <a:t>출력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라</a:t>
            </a:r>
            <a:r>
              <a:rPr lang="ko-KR" sz="1400">
                <a:latin typeface="맑은 고딕" charset="0"/>
                <a:ea typeface="맑은 고딕" charset="0"/>
              </a:rPr>
              <a:t>인 중 하나만 골라서 </a:t>
            </a:r>
            <a:r>
              <a:rPr lang="ko-KR" sz="1400">
                <a:latin typeface="맑은 고딕" charset="0"/>
                <a:ea typeface="맑은 고딕" charset="0"/>
              </a:rPr>
              <a:t>활성</a:t>
            </a:r>
            <a:r>
              <a:rPr lang="ko-KR" sz="1400">
                <a:latin typeface="맑은 고딕" charset="0"/>
                <a:ea typeface="맑은 고딕" charset="0"/>
              </a:rPr>
              <a:t>화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371284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C</a:t>
            </a:r>
            <a:r>
              <a:rPr lang="ko-KR" sz="2000" b="1">
                <a:latin typeface="+mj-lt"/>
                <a:ea typeface="+mj-ea"/>
                <a:cs typeface="+mj-cs"/>
              </a:rPr>
              <a:t>OMPARATOR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14" descr="C:/Users/user/AppData/Roaming/PolarisOffice/ETemp/9132_12101376/fImage7785291147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6930" y="1433195"/>
            <a:ext cx="3562985" cy="2839085"/>
          </a:xfrm>
          <a:prstGeom prst="rect"/>
          <a:noFill/>
        </p:spPr>
      </p:pic>
      <p:pic>
        <p:nvPicPr>
          <p:cNvPr id="7" name="그림 15" descr="C:/Users/user/AppData/Roaming/PolarisOffice/ETemp/9132_12101376/fImage11695292935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50740" y="1428115"/>
            <a:ext cx="4737735" cy="2066925"/>
          </a:xfrm>
          <a:prstGeom prst="rect"/>
          <a:noFill/>
        </p:spPr>
      </p:pic>
      <p:sp>
        <p:nvSpPr>
          <p:cNvPr id="8" name="텍스트 상자 84"/>
          <p:cNvSpPr txBox="1">
            <a:spLocks/>
          </p:cNvSpPr>
          <p:nvPr/>
        </p:nvSpPr>
        <p:spPr>
          <a:xfrm rot="0">
            <a:off x="4652645" y="3683635"/>
            <a:ext cx="5637530" cy="3086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400">
                <a:latin typeface="맑은 고딕" charset="0"/>
                <a:ea typeface="맑은 고딕" charset="0"/>
              </a:rPr>
              <a:t>입력된 </a:t>
            </a:r>
            <a:r>
              <a:rPr lang="ko-KR" sz="1400">
                <a:latin typeface="맑은 고딕" charset="0"/>
                <a:ea typeface="맑은 고딕" charset="0"/>
              </a:rPr>
              <a:t>값</a:t>
            </a:r>
            <a:r>
              <a:rPr lang="ko-KR" sz="1400">
                <a:latin typeface="맑은 고딕" charset="0"/>
                <a:ea typeface="맑은 고딕" charset="0"/>
              </a:rPr>
              <a:t>들을 </a:t>
            </a:r>
            <a:r>
              <a:rPr lang="ko-KR" sz="1400">
                <a:latin typeface="맑은 고딕" charset="0"/>
                <a:ea typeface="맑은 고딕" charset="0"/>
              </a:rPr>
              <a:t>비교하</a:t>
            </a:r>
            <a:r>
              <a:rPr lang="ko-KR" sz="1400">
                <a:latin typeface="맑은 고딕" charset="0"/>
                <a:ea typeface="맑은 고딕" charset="0"/>
              </a:rPr>
              <a:t>여 </a:t>
            </a:r>
            <a:r>
              <a:rPr lang="ko-KR" sz="1400">
                <a:latin typeface="맑은 고딕" charset="0"/>
                <a:ea typeface="맑은 고딕" charset="0"/>
              </a:rPr>
              <a:t>결과</a:t>
            </a:r>
            <a:r>
              <a:rPr lang="ko-KR" sz="1400">
                <a:latin typeface="맑은 고딕" charset="0"/>
                <a:ea typeface="맑은 고딕" charset="0"/>
              </a:rPr>
              <a:t>를 </a:t>
            </a:r>
            <a:r>
              <a:rPr lang="ko-KR" sz="1400">
                <a:latin typeface="맑은 고딕" charset="0"/>
                <a:ea typeface="맑은 고딕" charset="0"/>
              </a:rPr>
              <a:t>출</a:t>
            </a:r>
            <a:r>
              <a:rPr lang="ko-KR" sz="1400">
                <a:latin typeface="맑은 고딕" charset="0"/>
                <a:ea typeface="맑은 고딕" charset="0"/>
              </a:rPr>
              <a:t>력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25640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3</a:t>
            </a:r>
            <a:r>
              <a:rPr lang="ko-KR" sz="2000" b="1">
                <a:latin typeface="+mj-lt"/>
                <a:ea typeface="+mj-ea"/>
                <a:cs typeface="+mj-cs"/>
              </a:rPr>
              <a:t>_STATE_BUS</a:t>
            </a:r>
            <a:r>
              <a:rPr lang="ko-KR" sz="2000" b="1">
                <a:latin typeface="+mj-lt"/>
                <a:ea typeface="+mj-ea"/>
                <a:cs typeface="+mj-cs"/>
              </a:rPr>
              <a:t>(</a:t>
            </a:r>
            <a:r>
              <a:rPr lang="ko-KR" sz="2000" b="1">
                <a:latin typeface="+mj-lt"/>
                <a:ea typeface="+mj-ea"/>
                <a:cs typeface="+mj-cs"/>
              </a:rPr>
              <a:t>data_bus_driv</a:t>
            </a:r>
            <a:r>
              <a:rPr lang="ko-KR" sz="2000" b="1">
                <a:latin typeface="+mj-lt"/>
                <a:ea typeface="+mj-ea"/>
                <a:cs typeface="+mj-cs"/>
              </a:rPr>
              <a:t>e</a:t>
            </a:r>
            <a:r>
              <a:rPr lang="ko-KR" sz="2000" b="1">
                <a:latin typeface="+mj-lt"/>
                <a:ea typeface="+mj-ea"/>
                <a:cs typeface="+mj-cs"/>
              </a:rPr>
              <a:t>r</a:t>
            </a:r>
            <a:r>
              <a:rPr lang="ko-KR" sz="2000" b="1">
                <a:latin typeface="+mj-lt"/>
                <a:ea typeface="+mj-ea"/>
                <a:cs typeface="+mj-cs"/>
              </a:rPr>
              <a:t>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4390" y="1429385"/>
            <a:ext cx="3922395" cy="5153025"/>
          </a:xfrm>
          <a:prstGeom prst="rect"/>
          <a:noFill/>
        </p:spPr>
      </p:pic>
      <p:sp>
        <p:nvSpPr>
          <p:cNvPr id="9" name="텍스트 상자 85"/>
          <p:cNvSpPr txBox="1">
            <a:spLocks/>
          </p:cNvSpPr>
          <p:nvPr/>
        </p:nvSpPr>
        <p:spPr>
          <a:xfrm>
            <a:off x="4791075" y="3345815"/>
            <a:ext cx="7402195" cy="73914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400">
                <a:latin typeface="맑은 고딕" charset="0"/>
                <a:ea typeface="맑은 고딕" charset="0"/>
              </a:rPr>
              <a:t>두 개의 입력 데이터(i_data)를 인에이블 신호(i_en)를 통해 하나의 공용 버스(o_bus_data)로 선택적으로 출력하는 회로.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400">
                <a:latin typeface="맑은 고딕" charset="0"/>
                <a:ea typeface="맑은 고딕" charset="0"/>
              </a:rPr>
              <a:t>I_en_a,b 가 둘 다 켜져 있을 땐, a가 우선순위가 더 높아서 a가 출력</a:t>
            </a:r>
            <a:r>
              <a:rPr lang="ko-KR" sz="1400">
                <a:latin typeface="맑은 고딕" charset="0"/>
                <a:ea typeface="맑은 고딕" charset="0"/>
              </a:rPr>
              <a:t>된다.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pic>
        <p:nvPicPr>
          <p:cNvPr id="10" name="그림 2" descr="C:/Users/user/AppData/Roaming/PolarisOffice/ETemp/19868_14363296/fImage162804088467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876800" y="1429385"/>
            <a:ext cx="5330825" cy="18332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3</a:t>
            </a:r>
            <a:r>
              <a:rPr lang="ko-KR" sz="2000" b="1">
                <a:latin typeface="+mj-lt"/>
                <a:ea typeface="+mj-ea"/>
                <a:cs typeface="+mj-cs"/>
              </a:rPr>
              <a:t>_STATE_BUS</a:t>
            </a:r>
            <a:r>
              <a:rPr lang="ko-KR" sz="2000" b="1">
                <a:latin typeface="+mj-lt"/>
                <a:ea typeface="+mj-ea"/>
                <a:cs typeface="+mj-cs"/>
              </a:rPr>
              <a:t>(</a:t>
            </a:r>
            <a:r>
              <a:rPr lang="ko-KR" sz="2000" b="1">
                <a:latin typeface="+mj-lt"/>
                <a:ea typeface="+mj-ea"/>
                <a:cs typeface="+mj-cs"/>
              </a:rPr>
              <a:t>multip</a:t>
            </a:r>
            <a:r>
              <a:rPr lang="ko-KR" sz="2000" b="1">
                <a:latin typeface="+mj-lt"/>
                <a:ea typeface="+mj-ea"/>
                <a:cs typeface="+mj-cs"/>
              </a:rPr>
              <a:t>l</a:t>
            </a:r>
            <a:r>
              <a:rPr lang="ko-KR" sz="2000" b="1">
                <a:latin typeface="+mj-lt"/>
                <a:ea typeface="+mj-ea"/>
                <a:cs typeface="+mj-cs"/>
              </a:rPr>
              <a:t>exed_bus_driver)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21" descr="C:/Users/user/AppData/Roaming/PolarisOffice/ETemp/9132_12101376/fImage17411313570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8200" y="1437640"/>
            <a:ext cx="4370705" cy="3670935"/>
          </a:xfrm>
          <a:prstGeom prst="rect"/>
          <a:noFill/>
        </p:spPr>
      </p:pic>
      <p:pic>
        <p:nvPicPr>
          <p:cNvPr id="7" name="그림 22" descr="C:/Users/user/AppData/Roaming/PolarisOffice/ETemp/9132_12101376/fImage18658314814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494655" y="1439545"/>
            <a:ext cx="5582285" cy="2983865"/>
          </a:xfrm>
          <a:prstGeom prst="rect"/>
          <a:noFill/>
        </p:spPr>
      </p:pic>
      <p:sp>
        <p:nvSpPr>
          <p:cNvPr id="8" name="텍스트 상자 23"/>
          <p:cNvSpPr txBox="1">
            <a:spLocks noGrp="1"/>
          </p:cNvSpPr>
          <p:nvPr/>
        </p:nvSpPr>
        <p:spPr>
          <a:xfrm rot="0">
            <a:off x="5496560" y="462470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/>
              <a:t>이전 </a:t>
            </a:r>
            <a:r>
              <a:rPr lang="ko-KR"/>
              <a:t>3_</a:t>
            </a:r>
            <a:r>
              <a:rPr lang="ko-KR"/>
              <a:t>ST</a:t>
            </a:r>
            <a:r>
              <a:rPr lang="ko-KR"/>
              <a:t>A</a:t>
            </a:r>
            <a:r>
              <a:rPr lang="ko-KR"/>
              <a:t>T</a:t>
            </a:r>
            <a:r>
              <a:rPr lang="ko-KR"/>
              <a:t>E_BUS</a:t>
            </a:r>
            <a:r>
              <a:rPr lang="ko-KR"/>
              <a:t>에서 i</a:t>
            </a:r>
            <a:r>
              <a:rPr lang="ko-KR"/>
              <a:t>_</a:t>
            </a:r>
            <a:r>
              <a:rPr lang="ko-KR"/>
              <a:t>e</a:t>
            </a:r>
            <a:r>
              <a:rPr lang="ko-KR"/>
              <a:t>n</a:t>
            </a:r>
            <a:r>
              <a:rPr lang="ko-KR"/>
              <a:t>신호 </a:t>
            </a:r>
            <a:r>
              <a:rPr lang="ko-KR"/>
              <a:t>충</a:t>
            </a:r>
            <a:r>
              <a:rPr lang="ko-KR"/>
              <a:t>돌 </a:t>
            </a:r>
            <a:r>
              <a:rPr lang="ko-KR"/>
              <a:t>방지</a:t>
            </a:r>
            <a:r>
              <a:rPr lang="ko-KR"/>
              <a:t>를 </a:t>
            </a:r>
            <a:r>
              <a:rPr lang="ko-KR"/>
              <a:t>위</a:t>
            </a:r>
            <a:r>
              <a:rPr lang="ko-KR"/>
              <a:t>해 x</a:t>
            </a:r>
            <a:r>
              <a:rPr lang="ko-KR"/>
              <a:t>or</a:t>
            </a:r>
            <a:r>
              <a:rPr lang="ko-KR"/>
              <a:t>를 </a:t>
            </a:r>
            <a:r>
              <a:rPr lang="ko-KR"/>
              <a:t>이용</a:t>
            </a:r>
            <a:r>
              <a:rPr lang="ko-KR"/>
              <a:t>한 충돌 </a:t>
            </a:r>
            <a:r>
              <a:rPr lang="ko-KR"/>
              <a:t>방</a:t>
            </a:r>
            <a:r>
              <a:rPr lang="ko-KR"/>
              <a:t>지 </a:t>
            </a:r>
            <a:r>
              <a:rPr lang="ko-KR"/>
              <a:t>회</a:t>
            </a:r>
            <a:r>
              <a:rPr lang="ko-KR"/>
              <a:t>로 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10" name="그림 90" descr="C:/Users/user/AppData/Roaming/PolarisOffice/ETemp/9132_12101376/fImage16621464328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499735" y="1745615"/>
            <a:ext cx="5575935" cy="23628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3</a:t>
            </a:r>
            <a:r>
              <a:rPr lang="ko-KR" sz="2000" b="1">
                <a:latin typeface="+mj-lt"/>
                <a:ea typeface="+mj-ea"/>
                <a:cs typeface="+mj-cs"/>
              </a:rPr>
              <a:t>_STATE_BUS</a:t>
            </a:r>
            <a:r>
              <a:rPr lang="ko-KR" sz="2000" b="1">
                <a:latin typeface="+mj-lt"/>
                <a:ea typeface="+mj-ea"/>
                <a:cs typeface="+mj-cs"/>
              </a:rPr>
              <a:t>(b</a:t>
            </a:r>
            <a:r>
              <a:rPr lang="ko-KR" sz="2000" b="1">
                <a:latin typeface="+mj-lt"/>
                <a:ea typeface="+mj-ea"/>
                <a:cs typeface="+mj-cs"/>
              </a:rPr>
              <a:t>idirectional_bus_driver)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25" descr="C:/Users/user/AppData/Roaming/PolarisOffice/ETemp/9132_12101376/fImage15705325682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4390" y="1463040"/>
            <a:ext cx="4353560" cy="4401185"/>
          </a:xfrm>
          <a:prstGeom prst="rect"/>
          <a:noFill/>
        </p:spPr>
      </p:pic>
      <p:pic>
        <p:nvPicPr>
          <p:cNvPr id="8" name="그림 28" descr="C:/Users/user/AppData/Roaming/PolarisOffice/ETemp/9132_12101376/fImage17923328996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447030" y="1463040"/>
            <a:ext cx="5005070" cy="1906905"/>
          </a:xfrm>
          <a:prstGeom prst="rect"/>
          <a:noFill/>
        </p:spPr>
      </p:pic>
      <p:pic>
        <p:nvPicPr>
          <p:cNvPr id="22" name="그림 120" descr="C:/Users/user/AppData/Roaming/PolarisOffice/ETemp/9132_12101376/fImage1370349449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445125" y="1745615"/>
            <a:ext cx="5006975" cy="1686560"/>
          </a:xfrm>
          <a:prstGeom prst="rect"/>
          <a:noFill/>
        </p:spPr>
      </p:pic>
      <p:sp>
        <p:nvSpPr>
          <p:cNvPr id="35" name="텍스트 상자 135"/>
          <p:cNvSpPr txBox="1">
            <a:spLocks noGrp="1"/>
          </p:cNvSpPr>
          <p:nvPr/>
        </p:nvSpPr>
        <p:spPr>
          <a:xfrm rot="0">
            <a:off x="5444490" y="3663315"/>
            <a:ext cx="5908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>
                <a:solidFill>
                  <a:srgbClr val="FF0000"/>
                </a:solidFill>
              </a:rPr>
              <a:t>보낼 때(i</a:t>
            </a:r>
            <a:r>
              <a:rPr lang="ko-KR">
                <a:solidFill>
                  <a:srgbClr val="FF0000"/>
                </a:solidFill>
              </a:rPr>
              <a:t>_send</a:t>
            </a:r>
            <a:r>
              <a:rPr lang="ko-KR">
                <a:solidFill>
                  <a:srgbClr val="FF0000"/>
                </a:solidFill>
              </a:rPr>
              <a:t>=</a:t>
            </a:r>
            <a:r>
              <a:rPr lang="ko-KR">
                <a:solidFill>
                  <a:srgbClr val="FF0000"/>
                </a:solidFill>
              </a:rPr>
              <a:t>1)</a:t>
            </a:r>
            <a:r>
              <a:rPr lang="ko-KR"/>
              <a:t>는 </a:t>
            </a:r>
            <a:r>
              <a:rPr lang="ko-KR"/>
              <a:t>i_data_</a:t>
            </a:r>
            <a:r>
              <a:rPr lang="ko-KR"/>
              <a:t>t</a:t>
            </a:r>
            <a:r>
              <a:rPr lang="ko-KR"/>
              <a:t>o_b</a:t>
            </a:r>
            <a:r>
              <a:rPr lang="ko-KR"/>
              <a:t>u</a:t>
            </a:r>
            <a:r>
              <a:rPr lang="ko-KR"/>
              <a:t>s</a:t>
            </a:r>
            <a:r>
              <a:rPr lang="ko-KR"/>
              <a:t>를 </a:t>
            </a:r>
            <a:r>
              <a:rPr lang="ko-KR"/>
              <a:t>버스</a:t>
            </a:r>
            <a:r>
              <a:rPr lang="ko-KR"/>
              <a:t>로 </a:t>
            </a:r>
            <a:r>
              <a:rPr lang="ko-KR"/>
              <a:t>보내</a:t>
            </a:r>
            <a:r>
              <a:rPr lang="ko-KR"/>
              <a:t>고</a:t>
            </a:r>
            <a:endParaRPr lang="ko-KR" altLang="en-US"/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>
                <a:solidFill>
                  <a:srgbClr val="003A9A"/>
                </a:solidFill>
              </a:rPr>
              <a:t>받</a:t>
            </a:r>
            <a:r>
              <a:rPr lang="ko-KR">
                <a:solidFill>
                  <a:srgbClr val="003A9A"/>
                </a:solidFill>
              </a:rPr>
              <a:t>을 때(i</a:t>
            </a:r>
            <a:r>
              <a:rPr lang="ko-KR">
                <a:solidFill>
                  <a:srgbClr val="003A9A"/>
                </a:solidFill>
              </a:rPr>
              <a:t>_rcv=1</a:t>
            </a:r>
            <a:r>
              <a:rPr lang="ko-KR">
                <a:solidFill>
                  <a:srgbClr val="003A9A"/>
                </a:solidFill>
              </a:rPr>
              <a:t>)</a:t>
            </a:r>
            <a:r>
              <a:rPr lang="ko-KR"/>
              <a:t>는 </a:t>
            </a:r>
            <a:r>
              <a:rPr lang="ko-KR"/>
              <a:t>버스</a:t>
            </a:r>
            <a:r>
              <a:rPr lang="ko-KR"/>
              <a:t>의 </a:t>
            </a:r>
            <a:r>
              <a:rPr lang="ko-KR"/>
              <a:t>데이터</a:t>
            </a:r>
            <a:r>
              <a:rPr lang="ko-KR"/>
              <a:t>를 </a:t>
            </a:r>
            <a:r>
              <a:rPr lang="ko-KR"/>
              <a:t>o_data_form_bus</a:t>
            </a:r>
            <a:r>
              <a:rPr lang="ko-KR"/>
              <a:t>로 </a:t>
            </a:r>
            <a:r>
              <a:rPr lang="ko-KR"/>
              <a:t>가져오</a:t>
            </a:r>
            <a:r>
              <a:rPr lang="ko-KR"/>
              <a:t>는 코드</a:t>
            </a:r>
            <a:endParaRPr lang="ko-KR" altLang="en-US"/>
          </a:p>
        </p:txBody>
      </p:sp>
      <p:cxnSp>
        <p:nvCxnSpPr>
          <p:cNvPr id="36" name="도형 143"/>
          <p:cNvCxnSpPr/>
          <p:nvPr/>
        </p:nvCxnSpPr>
        <p:spPr>
          <a:xfrm rot="0">
            <a:off x="7801610" y="2597785"/>
            <a:ext cx="252095" cy="364490"/>
          </a:xfrm>
          <a:prstGeom prst="straightConnector1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도형 145"/>
          <p:cNvCxnSpPr/>
          <p:nvPr/>
        </p:nvCxnSpPr>
        <p:spPr>
          <a:xfrm rot="0">
            <a:off x="8981440" y="2938145"/>
            <a:ext cx="252095" cy="364490"/>
          </a:xfrm>
          <a:prstGeom prst="straightConnector1"/>
          <a:ln w="6350" cap="flat" cmpd="sng">
            <a:solidFill>
              <a:srgbClr val="003A9A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CO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MB_LOGIC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3</a:t>
            </a:r>
            <a:r>
              <a:rPr lang="ko-KR" sz="2000" b="1">
                <a:latin typeface="+mj-lt"/>
                <a:ea typeface="+mj-ea"/>
                <a:cs typeface="+mj-cs"/>
              </a:rPr>
              <a:t>_STATE_BUS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표 49"/>
          <p:cNvGraphicFramePr>
            <a:graphicFrameLocks noGrp="1"/>
          </p:cNvGraphicFramePr>
          <p:nvPr/>
        </p:nvGraphicFramePr>
        <p:xfrm>
          <a:off x="836295" y="1521460"/>
          <a:ext cx="10264140" cy="19075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2566035"/>
                <a:gridCol w="2566035"/>
                <a:gridCol w="2566035"/>
                <a:gridCol w="2566035"/>
              </a:tblGrid>
              <a:tr h="337820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모듈 이름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핵심 특징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주요 제어 방식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주요 용도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data_bus_driver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가장 기본적인 삼항 연산자 기반 버스 선택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i_en_a가 높으면 </a:t>
                      </a:r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우선 선택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 (우선순위 구조)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단순 멀티플렉서 형태의 버스 공유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multiplexed_bus_driver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XOR 게이트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를 추가해 충돌 방지 로직 적용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둘 중 </a:t>
                      </a:r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*딱 하나만 활성화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되었을 때만 출력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충돌(Bus Contention) 방지 보호 회로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bidirectional_bus_driver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inout양방향 포트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사용 (송신/수신 겸용)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i_send로 송신, i_rcv로 수신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I2C, 데이터 버스 등 실제 외부 양방향 통신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solidFill>
                  <a:schemeClr val="accent1">
                    <a:lumMod val="75000"/>
                    <a:lumOff val="0"/>
                  </a:schemeClr>
                </a:solidFill>
                <a:latin typeface="+mj-lt"/>
                <a:ea typeface="+mj-ea"/>
                <a:cs typeface="+mj-cs"/>
              </a:rPr>
              <a:t>C</a:t>
            </a:r>
            <a:r>
              <a:rPr lang="ko-KR" sz="3200" b="1">
                <a:solidFill>
                  <a:schemeClr val="accent1">
                    <a:lumMod val="75000"/>
                    <a:lumOff val="0"/>
                  </a:schemeClr>
                </a:solidFill>
                <a:latin typeface="+mj-lt"/>
                <a:ea typeface="+mj-ea"/>
                <a:cs typeface="+mj-cs"/>
              </a:rPr>
              <a:t>OM</a:t>
            </a:r>
            <a:r>
              <a:rPr lang="ko-KR" sz="3200" b="1">
                <a:solidFill>
                  <a:schemeClr val="accent1">
                    <a:lumMod val="75000"/>
                    <a:lumOff val="0"/>
                  </a:schemeClr>
                </a:solidFill>
                <a:latin typeface="+mj-lt"/>
                <a:ea typeface="+mj-ea"/>
                <a:cs typeface="+mj-cs"/>
              </a:rPr>
              <a:t>B</a:t>
            </a:r>
            <a:r>
              <a:rPr lang="ko-KR" sz="3200" b="1">
                <a:solidFill>
                  <a:schemeClr val="accent1">
                    <a:lumMod val="75000"/>
                    <a:lumOff val="0"/>
                  </a:schemeClr>
                </a:solidFill>
                <a:latin typeface="+mj-lt"/>
                <a:ea typeface="+mj-ea"/>
                <a:cs typeface="+mj-cs"/>
              </a:rPr>
              <a:t>_LO</a:t>
            </a:r>
            <a:r>
              <a:rPr lang="ko-KR" sz="3200" b="1">
                <a:solidFill>
                  <a:schemeClr val="accent1">
                    <a:lumMod val="75000"/>
                    <a:lumOff val="0"/>
                  </a:schemeClr>
                </a:solidFill>
                <a:latin typeface="+mj-lt"/>
                <a:ea typeface="+mj-ea"/>
                <a:cs typeface="+mj-cs"/>
              </a:rPr>
              <a:t>G</a:t>
            </a:r>
            <a:r>
              <a:rPr lang="ko-KR" sz="3200" b="1">
                <a:solidFill>
                  <a:schemeClr val="accent1">
                    <a:lumMod val="75000"/>
                    <a:lumOff val="0"/>
                  </a:schemeClr>
                </a:solidFill>
                <a:latin typeface="+mj-lt"/>
                <a:ea typeface="+mj-ea"/>
                <a:cs typeface="+mj-cs"/>
              </a:rPr>
              <a:t>IC</a:t>
            </a:r>
            <a:endParaRPr lang="ko-KR" altLang="en-US" sz="3200" b="1">
              <a:solidFill>
                <a:schemeClr val="accent1">
                  <a:lumMod val="75000"/>
                  <a:lumOff val="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A</a:t>
            </a:r>
            <a:r>
              <a:rPr lang="ko-KR" sz="2000" b="1">
                <a:latin typeface="+mj-lt"/>
                <a:ea typeface="+mj-ea"/>
                <a:cs typeface="+mj-cs"/>
              </a:rPr>
              <a:t>LU_</a:t>
            </a:r>
            <a:r>
              <a:rPr lang="ko-KR" sz="2000" b="1">
                <a:latin typeface="+mj-lt"/>
                <a:ea typeface="+mj-ea"/>
                <a:cs typeface="+mj-cs"/>
              </a:rPr>
              <a:t>8</a:t>
            </a:r>
            <a:r>
              <a:rPr lang="ko-KR" sz="2000" b="1">
                <a:latin typeface="+mj-lt"/>
                <a:ea typeface="+mj-ea"/>
                <a:cs typeface="+mj-cs"/>
              </a:rPr>
              <a:t>BIT</a:t>
            </a:r>
            <a:r>
              <a:rPr lang="ko-KR" sz="2000" b="1">
                <a:latin typeface="+mj-lt"/>
                <a:ea typeface="+mj-ea"/>
                <a:cs typeface="+mj-cs"/>
              </a:rPr>
              <a:t>(산술연산기</a:t>
            </a:r>
            <a:r>
              <a:rPr lang="ko-KR" sz="2000" b="1">
                <a:latin typeface="+mj-lt"/>
                <a:ea typeface="+mj-ea"/>
                <a:cs typeface="+mj-cs"/>
              </a:rPr>
              <a:t>)</a:t>
            </a:r>
            <a:endParaRPr lang="ko-KR" altLang="en-US"/>
          </a:p>
        </p:txBody>
      </p:sp>
      <p:pic>
        <p:nvPicPr>
          <p:cNvPr id="9" name="그림 77" descr="C:/Users/user/AppData/Roaming/PolarisOffice/ETemp/9132_12101376/fImage133370451299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23255" y="1454785"/>
            <a:ext cx="6097270" cy="1978025"/>
          </a:xfrm>
          <a:prstGeom prst="rect"/>
          <a:noFill/>
        </p:spPr>
      </p:pic>
      <p:pic>
        <p:nvPicPr>
          <p:cNvPr id="10" name="그림 78" descr="C:/Users/user/AppData/Roaming/PolarisOffice/ETemp/9132_12101376/fImage28180452194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43915" y="1437640"/>
            <a:ext cx="4837430" cy="5221605"/>
          </a:xfrm>
          <a:prstGeom prst="rect"/>
          <a:noFill/>
        </p:spPr>
      </p:pic>
      <p:pic>
        <p:nvPicPr>
          <p:cNvPr id="11" name="그림 270" descr="C:/Users/user/AppData/Roaming/PolarisOffice/ETemp/9132_12101376/fImage384306194827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19445" y="3489325"/>
            <a:ext cx="5694045" cy="24257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L</a:t>
            </a:r>
            <a:r>
              <a:rPr lang="ko-KR" sz="2000" b="1">
                <a:latin typeface="+mj-lt"/>
                <a:ea typeface="+mj-ea"/>
                <a:cs typeface="+mj-cs"/>
              </a:rPr>
              <a:t>ATC</a:t>
            </a:r>
            <a:r>
              <a:rPr lang="ko-KR" sz="2000" b="1">
                <a:latin typeface="+mj-lt"/>
                <a:ea typeface="+mj-ea"/>
                <a:cs typeface="+mj-cs"/>
              </a:rPr>
              <a:t>H</a:t>
            </a:r>
            <a:r>
              <a:rPr lang="ko-KR" sz="2000" b="1">
                <a:latin typeface="+mj-lt"/>
                <a:ea typeface="+mj-ea"/>
                <a:cs typeface="+mj-cs"/>
              </a:rPr>
              <a:t>(</a:t>
            </a:r>
            <a:r>
              <a:rPr lang="ko-KR" sz="2000" b="1">
                <a:latin typeface="+mj-lt"/>
                <a:ea typeface="+mj-ea"/>
                <a:cs typeface="+mj-cs"/>
              </a:rPr>
              <a:t>D)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7" name="그림 30" descr="C:/Users/user/AppData/Roaming/PolarisOffice/ETemp/9132_12101376/fImage7061338543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8835" y="1401445"/>
            <a:ext cx="2639060" cy="3220085"/>
          </a:xfrm>
          <a:prstGeom prst="rect"/>
          <a:noFill/>
        </p:spPr>
      </p:pic>
      <p:pic>
        <p:nvPicPr>
          <p:cNvPr id="8" name="그림 155" descr="C:/Users/user/AppData/Roaming/PolarisOffice/ETemp/9132_12101376/fImage13304526239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608070" y="1402715"/>
            <a:ext cx="6153785" cy="2286635"/>
          </a:xfrm>
          <a:prstGeom prst="rect"/>
          <a:noFill/>
        </p:spPr>
      </p:pic>
      <p:sp>
        <p:nvSpPr>
          <p:cNvPr id="9" name="텍스트 상자 269"/>
          <p:cNvSpPr txBox="1">
            <a:spLocks/>
          </p:cNvSpPr>
          <p:nvPr/>
        </p:nvSpPr>
        <p:spPr>
          <a:xfrm rot="0">
            <a:off x="3740785" y="4147820"/>
            <a:ext cx="565467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L</a:t>
            </a:r>
            <a:r>
              <a:rPr lang="ko-KR" sz="1800">
                <a:latin typeface="맑은 고딕" charset="0"/>
                <a:ea typeface="맑은 고딕" charset="0"/>
              </a:rPr>
              <a:t>evel</a:t>
            </a:r>
            <a:r>
              <a:rPr lang="ko-KR" sz="1800">
                <a:latin typeface="맑은 고딕" charset="0"/>
                <a:ea typeface="맑은 고딕" charset="0"/>
              </a:rPr>
              <a:t>-tr</a:t>
            </a:r>
            <a:r>
              <a:rPr lang="ko-KR" sz="1800">
                <a:latin typeface="맑은 고딕" charset="0"/>
                <a:ea typeface="맑은 고딕" charset="0"/>
              </a:rPr>
              <a:t>ig</a:t>
            </a:r>
            <a:r>
              <a:rPr lang="ko-KR" sz="1800">
                <a:latin typeface="맑은 고딕" charset="0"/>
                <a:ea typeface="맑은 고딕" charset="0"/>
              </a:rPr>
              <a:t>g</a:t>
            </a:r>
            <a:r>
              <a:rPr lang="ko-KR" sz="1800">
                <a:latin typeface="맑은 고딕" charset="0"/>
                <a:ea typeface="맑은 고딕" charset="0"/>
              </a:rPr>
              <a:t>er</a:t>
            </a:r>
            <a:r>
              <a:rPr lang="ko-KR" sz="1800">
                <a:latin typeface="맑은 고딕" charset="0"/>
                <a:ea typeface="맑은 고딕" charset="0"/>
              </a:rPr>
              <a:t> 방식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10" name="도형 271"/>
          <p:cNvCxnSpPr/>
          <p:nvPr/>
        </p:nvCxnSpPr>
        <p:spPr>
          <a:xfrm rot="0">
            <a:off x="5022215" y="2052320"/>
            <a:ext cx="442595" cy="635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도형 273"/>
          <p:cNvCxnSpPr/>
          <p:nvPr/>
        </p:nvCxnSpPr>
        <p:spPr>
          <a:xfrm rot="0">
            <a:off x="6037580" y="2046605"/>
            <a:ext cx="442595" cy="635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274"/>
          <p:cNvCxnSpPr/>
          <p:nvPr/>
        </p:nvCxnSpPr>
        <p:spPr>
          <a:xfrm rot="0">
            <a:off x="7076440" y="2046605"/>
            <a:ext cx="442595" cy="635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도형 275"/>
          <p:cNvCxnSpPr/>
          <p:nvPr/>
        </p:nvCxnSpPr>
        <p:spPr>
          <a:xfrm rot="0">
            <a:off x="8089900" y="2045970"/>
            <a:ext cx="442595" cy="635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도형 276"/>
          <p:cNvCxnSpPr/>
          <p:nvPr/>
        </p:nvCxnSpPr>
        <p:spPr>
          <a:xfrm rot="0">
            <a:off x="9111615" y="2045970"/>
            <a:ext cx="442595" cy="635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R</a:t>
            </a:r>
            <a:r>
              <a:rPr lang="ko-KR" sz="2000" b="1">
                <a:latin typeface="+mj-lt"/>
                <a:ea typeface="+mj-ea"/>
                <a:cs typeface="+mj-cs"/>
              </a:rPr>
              <a:t>EGIS</a:t>
            </a:r>
            <a:r>
              <a:rPr lang="ko-KR" sz="2000" b="1">
                <a:latin typeface="+mj-lt"/>
                <a:ea typeface="+mj-ea"/>
                <a:cs typeface="+mj-cs"/>
              </a:rPr>
              <a:t>T</a:t>
            </a:r>
            <a:r>
              <a:rPr lang="ko-KR" sz="2000" b="1">
                <a:latin typeface="+mj-lt"/>
                <a:ea typeface="+mj-ea"/>
                <a:cs typeface="+mj-cs"/>
              </a:rPr>
              <a:t>ER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31" descr="C:/Users/user/AppData/Roaming/PolarisOffice/ETemp/9132_12101376/fImage29020346460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6295" y="1379855"/>
            <a:ext cx="3578225" cy="5227955"/>
          </a:xfrm>
          <a:prstGeom prst="rect"/>
          <a:noFill/>
        </p:spPr>
      </p:pic>
      <p:pic>
        <p:nvPicPr>
          <p:cNvPr id="7" name="그림 180" descr="C:/Users/user/AppData/Roaming/PolarisOffice/ETemp/9132_12101376/fImage27347551390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548505" y="1376045"/>
            <a:ext cx="6033770" cy="3014980"/>
          </a:xfrm>
          <a:prstGeom prst="rect"/>
          <a:noFill/>
        </p:spPr>
      </p:pic>
      <p:cxnSp>
        <p:nvCxnSpPr>
          <p:cNvPr id="8" name="도형 238"/>
          <p:cNvCxnSpPr/>
          <p:nvPr/>
        </p:nvCxnSpPr>
        <p:spPr>
          <a:xfrm rot="0">
            <a:off x="6788785" y="3403600"/>
            <a:ext cx="243205" cy="337820"/>
          </a:xfrm>
          <a:prstGeom prst="straightConnector1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도형 239"/>
          <p:cNvCxnSpPr/>
          <p:nvPr/>
        </p:nvCxnSpPr>
        <p:spPr>
          <a:xfrm rot="0">
            <a:off x="7700645" y="3406140"/>
            <a:ext cx="243205" cy="337820"/>
          </a:xfrm>
          <a:prstGeom prst="straightConnector1"/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도형 242"/>
          <p:cNvCxnSpPr/>
          <p:nvPr/>
        </p:nvCxnSpPr>
        <p:spPr>
          <a:xfrm rot="0">
            <a:off x="7698105" y="3264535"/>
            <a:ext cx="635" cy="23495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도형 243"/>
          <p:cNvCxnSpPr/>
          <p:nvPr/>
        </p:nvCxnSpPr>
        <p:spPr>
          <a:xfrm rot="0">
            <a:off x="6799580" y="3284220"/>
            <a:ext cx="635" cy="234950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245"/>
          <p:cNvCxnSpPr/>
          <p:nvPr/>
        </p:nvCxnSpPr>
        <p:spPr>
          <a:xfrm rot="0">
            <a:off x="7694295" y="2611755"/>
            <a:ext cx="243205" cy="337820"/>
          </a:xfrm>
          <a:prstGeom prst="straightConnector1"/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도형 246"/>
          <p:cNvCxnSpPr/>
          <p:nvPr/>
        </p:nvCxnSpPr>
        <p:spPr>
          <a:xfrm rot="0">
            <a:off x="7691755" y="2522220"/>
            <a:ext cx="635" cy="23495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도형 247"/>
          <p:cNvCxnSpPr/>
          <p:nvPr/>
        </p:nvCxnSpPr>
        <p:spPr>
          <a:xfrm rot="0">
            <a:off x="6791325" y="2834640"/>
            <a:ext cx="243205" cy="337820"/>
          </a:xfrm>
          <a:prstGeom prst="straightConnector1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248"/>
          <p:cNvCxnSpPr/>
          <p:nvPr/>
        </p:nvCxnSpPr>
        <p:spPr>
          <a:xfrm rot="0">
            <a:off x="6784975" y="2706370"/>
            <a:ext cx="635" cy="234950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249"/>
          <p:cNvCxnSpPr/>
          <p:nvPr/>
        </p:nvCxnSpPr>
        <p:spPr>
          <a:xfrm rot="0">
            <a:off x="8580120" y="2821940"/>
            <a:ext cx="243205" cy="337820"/>
          </a:xfrm>
          <a:prstGeom prst="straightConnector1"/>
          <a:ln w="6350" cap="flat" cmpd="sng">
            <a:solidFill>
              <a:schemeClr val="accent4">
                <a:lumMod val="75000"/>
                <a:lumOff val="0"/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도형 250"/>
          <p:cNvCxnSpPr/>
          <p:nvPr/>
        </p:nvCxnSpPr>
        <p:spPr>
          <a:xfrm rot="0">
            <a:off x="8577580" y="2732405"/>
            <a:ext cx="635" cy="234950"/>
          </a:xfrm>
          <a:prstGeom prst="line"/>
          <a:ln w="6350" cap="flat" cmpd="sng">
            <a:solidFill>
              <a:schemeClr val="accent4">
                <a:lumMod val="75000"/>
                <a:lumOff val="0"/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도형 251"/>
          <p:cNvCxnSpPr/>
          <p:nvPr/>
        </p:nvCxnSpPr>
        <p:spPr>
          <a:xfrm rot="0">
            <a:off x="9489440" y="2588260"/>
            <a:ext cx="243205" cy="337820"/>
          </a:xfrm>
          <a:prstGeom prst="straightConnector1"/>
          <a:ln w="6350" cap="flat" cmpd="sng">
            <a:solidFill>
              <a:srgbClr val="4D009A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252"/>
          <p:cNvCxnSpPr/>
          <p:nvPr/>
        </p:nvCxnSpPr>
        <p:spPr>
          <a:xfrm rot="0">
            <a:off x="9486900" y="2498725"/>
            <a:ext cx="635" cy="234950"/>
          </a:xfrm>
          <a:prstGeom prst="line"/>
          <a:ln w="6350" cap="flat" cmpd="sng">
            <a:solidFill>
              <a:srgbClr val="4D009A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F</a:t>
            </a:r>
            <a:r>
              <a:rPr lang="ko-KR" sz="2000" b="1">
                <a:latin typeface="+mj-lt"/>
                <a:ea typeface="+mj-ea"/>
                <a:cs typeface="+mj-cs"/>
              </a:rPr>
              <a:t>R</a:t>
            </a:r>
            <a:r>
              <a:rPr lang="ko-KR" sz="2000" b="1">
                <a:latin typeface="+mj-lt"/>
                <a:ea typeface="+mj-ea"/>
                <a:cs typeface="+mj-cs"/>
              </a:rPr>
              <a:t>E</a:t>
            </a:r>
            <a:r>
              <a:rPr lang="ko-KR" sz="2000" b="1">
                <a:latin typeface="+mj-lt"/>
                <a:ea typeface="+mj-ea"/>
                <a:cs typeface="+mj-cs"/>
              </a:rPr>
              <a:t>Q_DIVIDER(fdivider)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10" name="그림 35" descr="C:/Users/user/AppData/Roaming/PolarisOffice/ETemp/9132_12101376/fImage3170735915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6295" y="1421130"/>
            <a:ext cx="5007610" cy="5194935"/>
          </a:xfrm>
          <a:prstGeom prst="rect"/>
          <a:noFill/>
        </p:spPr>
      </p:pic>
      <p:sp>
        <p:nvSpPr>
          <p:cNvPr id="14" name="텍스트 상자 182"/>
          <p:cNvSpPr txBox="1">
            <a:spLocks noGrp="1"/>
          </p:cNvSpPr>
          <p:nvPr/>
        </p:nvSpPr>
        <p:spPr>
          <a:xfrm rot="0">
            <a:off x="5955665" y="3594100"/>
            <a:ext cx="576961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b="0"/>
              <a:t>-</a:t>
            </a:r>
            <a:r>
              <a:rPr lang="ko-KR" b="1">
                <a:solidFill>
                  <a:srgbClr val="FF0000"/>
                </a:solidFill>
              </a:rPr>
              <a:t>r</a:t>
            </a:r>
            <a:r>
              <a:rPr lang="ko-KR" b="1">
                <a:solidFill>
                  <a:srgbClr val="FF0000"/>
                </a:solidFill>
              </a:rPr>
              <a:t>_count == 4</a:t>
            </a:r>
            <a:r>
              <a:rPr lang="ko-KR" b="0"/>
              <a:t>(</a:t>
            </a:r>
            <a:r>
              <a:rPr lang="ko-KR"/>
              <a:t>DIVIS</a:t>
            </a:r>
            <a:r>
              <a:rPr lang="ko-KR"/>
              <a:t>O</a:t>
            </a:r>
            <a:r>
              <a:rPr lang="ko-KR"/>
              <a:t>R/2 - 1)</a:t>
            </a:r>
            <a:r>
              <a:rPr lang="ko-KR"/>
              <a:t>:</a:t>
            </a:r>
            <a:r>
              <a:rPr lang="ko-KR"/>
              <a:t> </a:t>
            </a:r>
            <a:r>
              <a:rPr lang="ko-KR"/>
              <a:t>o</a:t>
            </a:r>
            <a:r>
              <a:rPr lang="ko-KR"/>
              <a:t>_clk_out</a:t>
            </a:r>
            <a:r>
              <a:rPr lang="ko-KR"/>
              <a:t>을 </a:t>
            </a:r>
            <a:r>
              <a:rPr lang="ko-KR"/>
              <a:t>1</a:t>
            </a:r>
            <a:r>
              <a:rPr lang="ko-KR"/>
              <a:t>로 전환</a:t>
            </a:r>
            <a:endParaRPr lang="ko-KR" altLang="en-US"/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ko-KR" altLang="en-US"/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b="0"/>
              <a:t>-</a:t>
            </a:r>
            <a:r>
              <a:rPr lang="ko-KR" b="1">
                <a:solidFill>
                  <a:schemeClr val="accent1"/>
                </a:solidFill>
              </a:rPr>
              <a:t>r</a:t>
            </a:r>
            <a:r>
              <a:rPr lang="ko-KR" b="1">
                <a:solidFill>
                  <a:schemeClr val="accent1"/>
                </a:solidFill>
              </a:rPr>
              <a:t>_count == </a:t>
            </a:r>
            <a:r>
              <a:rPr lang="ko-KR" b="1">
                <a:solidFill>
                  <a:schemeClr val="accent1"/>
                </a:solidFill>
              </a:rPr>
              <a:t>9</a:t>
            </a:r>
            <a:r>
              <a:rPr lang="ko-KR"/>
              <a:t>(D</a:t>
            </a:r>
            <a:r>
              <a:rPr lang="ko-KR"/>
              <a:t>I</a:t>
            </a:r>
            <a:r>
              <a:rPr lang="ko-KR"/>
              <a:t>V</a:t>
            </a:r>
            <a:r>
              <a:rPr lang="ko-KR"/>
              <a:t>I</a:t>
            </a:r>
            <a:r>
              <a:rPr lang="ko-KR"/>
              <a:t>SOR -1): </a:t>
            </a:r>
            <a:r>
              <a:rPr lang="ko-KR"/>
              <a:t>o</a:t>
            </a:r>
            <a:r>
              <a:rPr lang="ko-KR"/>
              <a:t>_</a:t>
            </a:r>
            <a:r>
              <a:rPr lang="ko-KR"/>
              <a:t>c</a:t>
            </a:r>
            <a:r>
              <a:rPr lang="ko-KR"/>
              <a:t>lk_out</a:t>
            </a:r>
            <a:r>
              <a:rPr lang="ko-KR"/>
              <a:t>을 </a:t>
            </a:r>
            <a:r>
              <a:rPr lang="ko-KR"/>
              <a:t>0으</a:t>
            </a:r>
            <a:r>
              <a:rPr lang="ko-KR"/>
              <a:t>로 </a:t>
            </a:r>
            <a:r>
              <a:rPr lang="ko-KR"/>
              <a:t>전</a:t>
            </a:r>
            <a:r>
              <a:rPr lang="ko-KR"/>
              <a:t>환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15" name="그림 224" descr="C:/Users/user/AppData/Roaming/PolarisOffice/ETemp/9132_12101376/fImage3325359429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502785" y="1524635"/>
            <a:ext cx="7551420" cy="1378585"/>
          </a:xfrm>
          <a:prstGeom prst="rect"/>
          <a:noFill/>
        </p:spPr>
      </p:pic>
      <p:cxnSp>
        <p:nvCxnSpPr>
          <p:cNvPr id="16" name="도형 225"/>
          <p:cNvCxnSpPr/>
          <p:nvPr/>
        </p:nvCxnSpPr>
        <p:spPr>
          <a:xfrm rot="0">
            <a:off x="8053070" y="2190750"/>
            <a:ext cx="635" cy="399415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도형 227"/>
          <p:cNvCxnSpPr/>
          <p:nvPr/>
        </p:nvCxnSpPr>
        <p:spPr>
          <a:xfrm rot="0">
            <a:off x="10661650" y="2193290"/>
            <a:ext cx="635" cy="258445"/>
          </a:xfrm>
          <a:prstGeom prst="line"/>
          <a:ln w="6350" cap="flat" cmpd="sng">
            <a:solidFill>
              <a:schemeClr val="accent5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도형 228"/>
          <p:cNvCxnSpPr/>
          <p:nvPr/>
        </p:nvCxnSpPr>
        <p:spPr>
          <a:xfrm rot="5400000">
            <a:off x="7052945" y="2533015"/>
            <a:ext cx="1048385" cy="953135"/>
          </a:xfrm>
          <a:prstGeom prst="curvedConnector3">
            <a:avLst>
              <a:gd name="adj1" fmla="val 50065"/>
            </a:avLst>
          </a:prstGeom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232"/>
          <p:cNvCxnSpPr/>
          <p:nvPr/>
        </p:nvCxnSpPr>
        <p:spPr>
          <a:xfrm rot="10800000" flipV="1">
            <a:off x="7247890" y="2399030"/>
            <a:ext cx="3394710" cy="1541780"/>
          </a:xfrm>
          <a:prstGeom prst="curvedConnector3">
            <a:avLst>
              <a:gd name="adj1" fmla="val 50000"/>
            </a:avLst>
          </a:prstGeom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S</a:t>
            </a:r>
            <a:r>
              <a:rPr lang="ko-KR" sz="2000" b="1">
                <a:latin typeface="+mj-lt"/>
                <a:ea typeface="+mj-ea"/>
                <a:cs typeface="+mj-cs"/>
              </a:rPr>
              <a:t>HIFT_</a:t>
            </a:r>
            <a:r>
              <a:rPr lang="ko-KR" sz="2000" b="1">
                <a:latin typeface="+mj-lt"/>
                <a:ea typeface="+mj-ea"/>
                <a:cs typeface="+mj-cs"/>
              </a:rPr>
              <a:t>R</a:t>
            </a:r>
            <a:r>
              <a:rPr lang="ko-KR" sz="2000" b="1">
                <a:latin typeface="+mj-lt"/>
                <a:ea typeface="+mj-ea"/>
                <a:cs typeface="+mj-cs"/>
              </a:rPr>
              <a:t>EGISTER</a:t>
            </a:r>
            <a:endParaRPr lang="ko-KR" altLang="en-US" sz="2000" b="1">
              <a:latin typeface="+mj-lt"/>
              <a:ea typeface="+mj-ea"/>
              <a:cs typeface="+mj-cs"/>
            </a:endParaRPr>
          </a:p>
        </p:txBody>
      </p:sp>
      <p:pic>
        <p:nvPicPr>
          <p:cNvPr id="6" name="그림 43" descr="C:/Users/user/AppData/Roaming/PolarisOffice/ETemp/9132_12101376/fImage16612378238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2485" y="1390650"/>
            <a:ext cx="4591685" cy="5229860"/>
          </a:xfrm>
          <a:prstGeom prst="rect"/>
          <a:noFill/>
        </p:spPr>
      </p:pic>
      <p:pic>
        <p:nvPicPr>
          <p:cNvPr id="7" name="그림 44" descr="C:/Users/user/AppData/Roaming/PolarisOffice/ETemp/9132_12101376/fImage24471379742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64050" y="1471295"/>
            <a:ext cx="7625715" cy="1508125"/>
          </a:xfrm>
          <a:prstGeom prst="rect"/>
          <a:noFill/>
        </p:spPr>
      </p:pic>
      <p:sp>
        <p:nvSpPr>
          <p:cNvPr id="8" name="텍스트 상자 45"/>
          <p:cNvSpPr txBox="1">
            <a:spLocks noGrp="1"/>
          </p:cNvSpPr>
          <p:nvPr/>
        </p:nvSpPr>
        <p:spPr>
          <a:xfrm rot="0">
            <a:off x="5614670" y="314261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0">
                <a:latin typeface="+mj-lt"/>
                <a:ea typeface="+mj-ea"/>
                <a:cs typeface="+mj-cs"/>
              </a:rPr>
              <a:t>I</a:t>
            </a:r>
            <a:r>
              <a:rPr lang="ko-KR" sz="2000" b="0">
                <a:latin typeface="+mj-lt"/>
                <a:ea typeface="+mj-ea"/>
                <a:cs typeface="+mj-cs"/>
              </a:rPr>
              <a:t>_serial_i</a:t>
            </a:r>
            <a:r>
              <a:rPr lang="ko-KR" sz="2000" b="0">
                <a:latin typeface="+mj-lt"/>
                <a:ea typeface="+mj-ea"/>
                <a:cs typeface="+mj-cs"/>
              </a:rPr>
              <a:t>n이 </a:t>
            </a:r>
            <a:r>
              <a:rPr lang="ko-KR" sz="2000" b="0">
                <a:latin typeface="+mj-lt"/>
                <a:ea typeface="+mj-ea"/>
                <a:cs typeface="+mj-cs"/>
              </a:rPr>
              <a:t>L</a:t>
            </a:r>
            <a:r>
              <a:rPr lang="ko-KR" sz="2000" b="0">
                <a:latin typeface="+mj-lt"/>
                <a:ea typeface="+mj-ea"/>
                <a:cs typeface="+mj-cs"/>
              </a:rPr>
              <a:t>S</a:t>
            </a:r>
            <a:r>
              <a:rPr lang="ko-KR" sz="2000" b="0">
                <a:latin typeface="+mj-lt"/>
                <a:ea typeface="+mj-ea"/>
                <a:cs typeface="+mj-cs"/>
              </a:rPr>
              <a:t>B</a:t>
            </a:r>
            <a:r>
              <a:rPr lang="ko-KR" sz="2000" b="0">
                <a:latin typeface="+mj-lt"/>
                <a:ea typeface="+mj-ea"/>
                <a:cs typeface="+mj-cs"/>
              </a:rPr>
              <a:t>로</a:t>
            </a:r>
            <a:r>
              <a:rPr lang="ko-KR" sz="2000" b="0">
                <a:latin typeface="+mj-lt"/>
                <a:ea typeface="+mj-ea"/>
                <a:cs typeface="+mj-cs"/>
              </a:rPr>
              <a:t> </a:t>
            </a:r>
            <a:r>
              <a:rPr lang="ko-KR" sz="2000" b="0">
                <a:latin typeface="+mj-lt"/>
                <a:ea typeface="+mj-ea"/>
                <a:cs typeface="+mj-cs"/>
              </a:rPr>
              <a:t>들</a:t>
            </a:r>
            <a:r>
              <a:rPr lang="ko-KR" sz="2000" b="0">
                <a:latin typeface="+mj-lt"/>
                <a:ea typeface="+mj-ea"/>
                <a:cs typeface="+mj-cs"/>
              </a:rPr>
              <a:t>어 </a:t>
            </a:r>
            <a:r>
              <a:rPr lang="ko-KR" sz="2000" b="0">
                <a:latin typeface="+mj-lt"/>
                <a:ea typeface="+mj-ea"/>
                <a:cs typeface="+mj-cs"/>
              </a:rPr>
              <a:t>올때마</a:t>
            </a:r>
            <a:r>
              <a:rPr lang="ko-KR" sz="2000" b="0">
                <a:latin typeface="+mj-lt"/>
                <a:ea typeface="+mj-ea"/>
                <a:cs typeface="+mj-cs"/>
              </a:rPr>
              <a:t>다 왼쪽으로 </a:t>
            </a:r>
            <a:r>
              <a:rPr lang="ko-KR" sz="2000" b="0">
                <a:latin typeface="+mj-lt"/>
                <a:ea typeface="+mj-ea"/>
                <a:cs typeface="+mj-cs"/>
              </a:rPr>
              <a:t>시프</a:t>
            </a:r>
            <a:r>
              <a:rPr lang="ko-KR" sz="2000" b="0">
                <a:latin typeface="+mj-lt"/>
                <a:ea typeface="+mj-ea"/>
                <a:cs typeface="+mj-cs"/>
              </a:rPr>
              <a:t>트</a:t>
            </a:r>
            <a:endParaRPr lang="ko-KR" altLang="en-US" sz="2000" b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Rect 0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S</a:t>
            </a:r>
            <a:r>
              <a:rPr lang="ko-KR" sz="2000" b="1">
                <a:latin typeface="+mj-lt"/>
                <a:ea typeface="+mj-ea"/>
                <a:cs typeface="+mj-cs"/>
              </a:rPr>
              <a:t>IMPLE_RE</a:t>
            </a:r>
            <a:r>
              <a:rPr lang="ko-KR" sz="2000" b="1">
                <a:latin typeface="+mj-lt"/>
                <a:ea typeface="+mj-ea"/>
                <a:cs typeface="+mj-cs"/>
              </a:rPr>
              <a:t>G</a:t>
            </a:r>
            <a:r>
              <a:rPr lang="ko-KR" sz="2000" b="1">
                <a:latin typeface="+mj-lt"/>
                <a:ea typeface="+mj-ea"/>
                <a:cs typeface="+mj-cs"/>
              </a:rPr>
              <a:t>ISTER</a:t>
            </a:r>
            <a:r>
              <a:rPr lang="ko-KR" sz="2000" b="1">
                <a:latin typeface="+mj-lt"/>
                <a:ea typeface="+mj-ea"/>
                <a:cs typeface="+mj-cs"/>
              </a:rPr>
              <a:t>_</a:t>
            </a:r>
            <a:r>
              <a:rPr lang="ko-KR" sz="2000" b="1">
                <a:latin typeface="+mj-lt"/>
                <a:ea typeface="+mj-ea"/>
                <a:cs typeface="+mj-cs"/>
              </a:rPr>
              <a:t>MAP</a:t>
            </a:r>
            <a:endParaRPr lang="ko-KR" altLang="en-US"/>
          </a:p>
        </p:txBody>
      </p:sp>
      <p:pic>
        <p:nvPicPr>
          <p:cNvPr id="6" name="그림 46" descr="C:/Users/user/AppData/Roaming/PolarisOffice/ETemp/9132_12101376/fImage12428389871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9470" y="1398905"/>
            <a:ext cx="3524885" cy="4144010"/>
          </a:xfrm>
          <a:prstGeom prst="rect"/>
          <a:noFill/>
        </p:spPr>
      </p:pic>
      <p:graphicFrame>
        <p:nvGraphicFramePr>
          <p:cNvPr id="8" name="표 48"/>
          <p:cNvGraphicFramePr>
            <a:graphicFrameLocks noGrp="1"/>
          </p:cNvGraphicFramePr>
          <p:nvPr/>
        </p:nvGraphicFramePr>
        <p:xfrm>
          <a:off x="4580890" y="3758565"/>
          <a:ext cx="5441950" cy="30657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616075"/>
                <a:gridCol w="1685925"/>
                <a:gridCol w="2139950"/>
              </a:tblGrid>
              <a:tr h="496570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항목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이전 레지스터 (register)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현재 레지스터 (simple_register)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쓰기 제어 신호 (wen)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없음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있음 (wen)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동작 방식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매 클록 상승 에지마다 </a:t>
                      </a:r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무조건</a:t>
                      </a:r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입력 데이터를 새로 저장함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wen = 1일 때만 데이터를 저장하고, </a:t>
                      </a:r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wen = 0이면 이전 값 유지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출력 연결 방식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always블록의 레지스터(reg)가 </a:t>
                      </a:r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직접 출력 포트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내부 레지스터(r_reg8)에 저장한 뒤 </a:t>
                      </a:r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assign문으로 출력 연결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4555">
                <a:tc>
                  <a:txBody>
                    <a:bodyPr/>
                    <a:lstStyle/>
                    <a:p>
                      <a:pPr marL="0" indent="0"/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주요 용도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단순 파이프라인 단게, 데이터 지연 버퍼</a:t>
                      </a:r>
                      <a:endParaRPr lang="ko-KR" altLang="en-US" sz="1050" kern="1200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050" kern="1200">
                          <a:latin typeface="Google Sans Text" charset="0"/>
                          <a:ea typeface="Google Sans Text" charset="0"/>
                        </a:rPr>
                        <a:t>특정 타이밍에만 값을 업데이트해야 하는 </a:t>
                      </a:r>
                      <a:r>
                        <a:rPr sz="1050" kern="1200" b="1">
                          <a:latin typeface="Google Sans Text" charset="0"/>
                          <a:ea typeface="Google Sans Text" charset="0"/>
                        </a:rPr>
                        <a:t>주소 지정 레지스터 / CSR (Control/Status Register)</a:t>
                      </a:r>
                      <a:endParaRPr lang="ko-KR" altLang="en-US" sz="1050" kern="1200" b="1">
                        <a:latin typeface="Google Sans Text" charset="0"/>
                        <a:ea typeface="Google Sans Text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그림 194" descr="C:/Users/user/AppData/Roaming/PolarisOffice/ETemp/9132_12101376/fImage36468564971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27220" y="1282065"/>
            <a:ext cx="7410450" cy="2381250"/>
          </a:xfrm>
          <a:prstGeom prst="rect"/>
          <a:noFill/>
        </p:spPr>
      </p:pic>
      <p:cxnSp>
        <p:nvCxnSpPr>
          <p:cNvPr id="24" name="도형 292"/>
          <p:cNvCxnSpPr/>
          <p:nvPr/>
        </p:nvCxnSpPr>
        <p:spPr>
          <a:xfrm rot="0">
            <a:off x="7247890" y="2788920"/>
            <a:ext cx="243205" cy="337820"/>
          </a:xfrm>
          <a:prstGeom prst="straightConnector1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293"/>
          <p:cNvCxnSpPr/>
          <p:nvPr/>
        </p:nvCxnSpPr>
        <p:spPr>
          <a:xfrm rot="0">
            <a:off x="7258685" y="2669540"/>
            <a:ext cx="635" cy="234950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294"/>
          <p:cNvCxnSpPr/>
          <p:nvPr/>
        </p:nvCxnSpPr>
        <p:spPr>
          <a:xfrm rot="0">
            <a:off x="8867140" y="2788920"/>
            <a:ext cx="243205" cy="337820"/>
          </a:xfrm>
          <a:prstGeom prst="straightConnector1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도형 295"/>
          <p:cNvCxnSpPr/>
          <p:nvPr/>
        </p:nvCxnSpPr>
        <p:spPr>
          <a:xfrm rot="0">
            <a:off x="8877935" y="2669540"/>
            <a:ext cx="635" cy="234950"/>
          </a:xfrm>
          <a:prstGeom prst="line"/>
          <a:ln w="635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도형 296"/>
          <p:cNvCxnSpPr/>
          <p:nvPr/>
        </p:nvCxnSpPr>
        <p:spPr>
          <a:xfrm rot="0">
            <a:off x="10468610" y="2797175"/>
            <a:ext cx="243205" cy="337820"/>
          </a:xfrm>
          <a:prstGeom prst="straightConnector1"/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도형 297"/>
          <p:cNvCxnSpPr/>
          <p:nvPr/>
        </p:nvCxnSpPr>
        <p:spPr>
          <a:xfrm rot="0">
            <a:off x="10479405" y="2677795"/>
            <a:ext cx="635" cy="234950"/>
          </a:xfrm>
          <a:prstGeom prst="line"/>
          <a:ln w="6350" cap="flat" cmpd="sng">
            <a:solidFill>
              <a:schemeClr val="accent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도형 298"/>
          <p:cNvCxnSpPr/>
          <p:nvPr/>
        </p:nvCxnSpPr>
        <p:spPr>
          <a:xfrm rot="0">
            <a:off x="11274425" y="2806065"/>
            <a:ext cx="243205" cy="337820"/>
          </a:xfrm>
          <a:prstGeom prst="straightConnector1"/>
          <a:ln w="6350" cap="flat" cmpd="sng">
            <a:solidFill>
              <a:srgbClr val="E8007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도형 299"/>
          <p:cNvCxnSpPr/>
          <p:nvPr/>
        </p:nvCxnSpPr>
        <p:spPr>
          <a:xfrm rot="0">
            <a:off x="11285220" y="2686685"/>
            <a:ext cx="635" cy="234950"/>
          </a:xfrm>
          <a:prstGeom prst="line"/>
          <a:ln w="6350" cap="flat" cmpd="sng">
            <a:solidFill>
              <a:srgbClr val="E8007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잉크 306"/>
              <p14:cNvContentPartPr/>
              <p14:nvPr/>
            </p14:nvContentPartPr>
            <p14:xfrm>
              <a:off x="9611360" y="2658745"/>
              <a:ext cx="225425" cy="138430"/>
            </p14:xfrm>
          </p:contentPart>
        </mc:Choice>
        <mc:Fallback>
          <p:pic>
            <p:nvPicPr>
              <p:cNvPr id="32" name="잉크 30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11360" y="2658745"/>
                <a:ext cx="225425" cy="138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잉크 307"/>
              <p14:cNvContentPartPr/>
              <p14:nvPr/>
            </p14:nvContentPartPr>
            <p14:xfrm>
              <a:off x="9577070" y="2710815"/>
              <a:ext cx="173355" cy="17145"/>
            </p14:xfrm>
          </p:contentPart>
        </mc:Choice>
        <mc:Fallback>
          <p:pic>
            <p:nvPicPr>
              <p:cNvPr id="33" name="잉크 30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77070" y="2710815"/>
                <a:ext cx="173355" cy="17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잉크 308"/>
              <p14:cNvContentPartPr/>
              <p14:nvPr/>
            </p14:nvContentPartPr>
            <p14:xfrm>
              <a:off x="9568180" y="2727960"/>
              <a:ext cx="164465" cy="43180"/>
            </p14:xfrm>
          </p:contentPart>
        </mc:Choice>
        <mc:Fallback>
          <p:pic>
            <p:nvPicPr>
              <p:cNvPr id="34" name="잉크 30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68180" y="2727960"/>
                <a:ext cx="164465" cy="431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621665"/>
          </a:xfrm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ko-KR" sz="3200"/>
              <a:t>SE</a:t>
            </a:r>
            <a:r>
              <a:rPr lang="ko-KR" sz="3200"/>
              <a:t>Q_LOGIC</a:t>
            </a:r>
            <a:endParaRPr lang="ko-KR" altLang="en-US" sz="3200"/>
          </a:p>
        </p:txBody>
      </p:sp>
      <p:sp>
        <p:nvSpPr>
          <p:cNvPr id="4" name="순서도: 연결자 3"/>
          <p:cNvSpPr/>
          <p:nvPr/>
        </p:nvSpPr>
        <p:spPr>
          <a:xfrm>
            <a:off x="1750695" y="3134995"/>
            <a:ext cx="1382395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99615" y="3637915"/>
            <a:ext cx="94043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IDLE</a:t>
            </a:r>
            <a:endParaRPr lang="ko-KR" altLang="en-US" dirty="0"/>
          </a:p>
        </p:txBody>
      </p:sp>
      <p:sp>
        <p:nvSpPr>
          <p:cNvPr id="7" name="순서도: 연결자 6"/>
          <p:cNvSpPr/>
          <p:nvPr/>
        </p:nvSpPr>
        <p:spPr>
          <a:xfrm>
            <a:off x="5090160" y="3134995"/>
            <a:ext cx="1382395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292725" y="3618230"/>
            <a:ext cx="94043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RUN</a:t>
            </a:r>
            <a:endParaRPr lang="ko-KR" altLang="en-US" dirty="0"/>
          </a:p>
        </p:txBody>
      </p:sp>
      <p:sp>
        <p:nvSpPr>
          <p:cNvPr id="9" name="순서도: 연결자 8"/>
          <p:cNvSpPr/>
          <p:nvPr/>
        </p:nvSpPr>
        <p:spPr>
          <a:xfrm>
            <a:off x="8429625" y="3134995"/>
            <a:ext cx="1382395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669655" y="3618230"/>
            <a:ext cx="94043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STOP</a:t>
            </a:r>
            <a:endParaRPr lang="ko-KR" altLang="en-US" dirty="0"/>
          </a:p>
        </p:txBody>
      </p:sp>
      <p:cxnSp>
        <p:nvCxnSpPr>
          <p:cNvPr id="12" name="구부러진 연결선 11"/>
          <p:cNvCxnSpPr>
            <a:stCxn id="14" idx="2"/>
            <a:endCxn id="4" idx="2"/>
          </p:cNvCxnSpPr>
          <p:nvPr/>
        </p:nvCxnSpPr>
        <p:spPr>
          <a:xfrm rot="16200000" flipH="1">
            <a:off x="748665" y="2819400"/>
            <a:ext cx="1297940" cy="7054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730" y="2153285"/>
            <a:ext cx="82296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</a:t>
            </a:r>
            <a:r>
              <a:rPr lang="en-US" altLang="ko-KR" dirty="0" err="1" smtClean="0"/>
              <a:t>st_n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4" idx="6"/>
            <a:endCxn id="7" idx="2"/>
          </p:cNvCxnSpPr>
          <p:nvPr/>
        </p:nvCxnSpPr>
        <p:spPr>
          <a:xfrm>
            <a:off x="3133090" y="3820795"/>
            <a:ext cx="1957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7" idx="6"/>
            <a:endCxn id="9" idx="2"/>
          </p:cNvCxnSpPr>
          <p:nvPr/>
        </p:nvCxnSpPr>
        <p:spPr>
          <a:xfrm>
            <a:off x="6472555" y="3820795"/>
            <a:ext cx="1957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4070" y="3477895"/>
            <a:ext cx="1515110" cy="64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 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795135" y="3497580"/>
            <a:ext cx="1515110" cy="64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    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 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cxnSp>
        <p:nvCxnSpPr>
          <p:cNvPr id="90" name="직선 화살표 연결선 89"/>
          <p:cNvCxnSpPr>
            <a:stCxn id="9" idx="2"/>
            <a:endCxn id="7" idx="6"/>
          </p:cNvCxnSpPr>
          <p:nvPr/>
        </p:nvCxnSpPr>
        <p:spPr>
          <a:xfrm flipH="1">
            <a:off x="6472555" y="3820795"/>
            <a:ext cx="1957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텍스트 상자 53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A</a:t>
            </a:r>
            <a:r>
              <a:rPr lang="ko-KR" sz="2000" b="1">
                <a:latin typeface="+mj-lt"/>
                <a:ea typeface="+mj-ea"/>
                <a:cs typeface="+mj-cs"/>
              </a:rPr>
              <a:t>DDER</a:t>
            </a:r>
            <a:r>
              <a:rPr lang="ko-KR" sz="2000" b="1">
                <a:latin typeface="+mj-lt"/>
                <a:ea typeface="+mj-ea"/>
                <a:cs typeface="+mj-cs"/>
              </a:rPr>
              <a:t>_</a:t>
            </a:r>
            <a:r>
              <a:rPr lang="ko-KR" sz="2000" b="1">
                <a:latin typeface="+mj-lt"/>
                <a:ea typeface="+mj-ea"/>
                <a:cs typeface="+mj-cs"/>
              </a:rPr>
              <a:t>100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59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64"/>
          <p:cNvSpPr txBox="1">
            <a:spLocks noGrp="1"/>
          </p:cNvSpPr>
          <p:nvPr/>
        </p:nvSpPr>
        <p:spPr>
          <a:xfrm rot="0">
            <a:off x="909955" y="436880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7" name="텍스트 상자 65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R</a:t>
            </a:r>
            <a:r>
              <a:rPr lang="ko-KR" sz="2000" b="1">
                <a:latin typeface="+mj-lt"/>
                <a:ea typeface="+mj-ea"/>
                <a:cs typeface="+mj-cs"/>
              </a:rPr>
              <a:t>T</a:t>
            </a:r>
            <a:r>
              <a:rPr lang="ko-KR" sz="2000" b="1">
                <a:latin typeface="+mj-lt"/>
                <a:ea typeface="+mj-ea"/>
                <a:cs typeface="+mj-cs"/>
              </a:rPr>
              <a:t>L CODE</a:t>
            </a:r>
            <a:endParaRPr lang="ko-KR" altLang="en-US"/>
          </a:p>
        </p:txBody>
      </p:sp>
      <p:pic>
        <p:nvPicPr>
          <p:cNvPr id="8" name="그림 27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02945" y="1689100"/>
            <a:ext cx="3670935" cy="1574165"/>
          </a:xfrm>
          <a:prstGeom prst="rect"/>
          <a:noFill/>
        </p:spPr>
      </p:pic>
      <p:pic>
        <p:nvPicPr>
          <p:cNvPr id="9" name="그림 278" descr="C:/Users/user/AppData/Roaming/PolarisOffice/ETemp/22280_17866776/fImage331356261538.png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581525" y="508000"/>
            <a:ext cx="3507740" cy="2755265"/>
          </a:xfrm>
          <a:prstGeom prst="rect"/>
          <a:noFill/>
        </p:spPr>
      </p:pic>
      <p:sp>
        <p:nvSpPr>
          <p:cNvPr id="10" name="텍스트 상자 279"/>
          <p:cNvSpPr txBox="1">
            <a:spLocks/>
          </p:cNvSpPr>
          <p:nvPr/>
        </p:nvSpPr>
        <p:spPr>
          <a:xfrm rot="0">
            <a:off x="698500" y="1445260"/>
            <a:ext cx="1373505" cy="2470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Alw</a:t>
            </a:r>
            <a:r>
              <a:rPr lang="ko-KR" sz="1000" b="1">
                <a:latin typeface="맑은 고딕" charset="0"/>
                <a:ea typeface="맑은 고딕" charset="0"/>
              </a:rPr>
              <a:t>ays_</a:t>
            </a:r>
            <a:r>
              <a:rPr lang="ko-KR" sz="1000" b="1">
                <a:latin typeface="맑은 고딕" charset="0"/>
                <a:ea typeface="맑은 고딕" charset="0"/>
              </a:rPr>
              <a:t>0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11" name="텍스트 상자 281"/>
          <p:cNvSpPr txBox="1">
            <a:spLocks/>
          </p:cNvSpPr>
          <p:nvPr/>
        </p:nvSpPr>
        <p:spPr>
          <a:xfrm rot="0">
            <a:off x="4580255" y="270510"/>
            <a:ext cx="1373505" cy="2470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Alw</a:t>
            </a:r>
            <a:r>
              <a:rPr lang="ko-KR" sz="1000" b="1">
                <a:latin typeface="맑은 고딕" charset="0"/>
                <a:ea typeface="맑은 고딕" charset="0"/>
              </a:rPr>
              <a:t>ays_1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pic>
        <p:nvPicPr>
          <p:cNvPr id="12" name="그림 28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255000" y="497840"/>
            <a:ext cx="3804920" cy="1572260"/>
          </a:xfrm>
          <a:prstGeom prst="rect"/>
          <a:noFill/>
        </p:spPr>
      </p:pic>
      <p:sp>
        <p:nvSpPr>
          <p:cNvPr id="13" name="텍스트 상자 284"/>
          <p:cNvSpPr txBox="1">
            <a:spLocks/>
          </p:cNvSpPr>
          <p:nvPr/>
        </p:nvSpPr>
        <p:spPr>
          <a:xfrm rot="0">
            <a:off x="8249920" y="268605"/>
            <a:ext cx="1373505" cy="2470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F</a:t>
            </a:r>
            <a:r>
              <a:rPr lang="ko-KR" sz="1000" b="1">
                <a:latin typeface="맑은 고딕" charset="0"/>
                <a:ea typeface="맑은 고딕" charset="0"/>
              </a:rPr>
              <a:t>lipFl</a:t>
            </a:r>
            <a:r>
              <a:rPr lang="ko-KR" sz="1000" b="1">
                <a:latin typeface="맑은 고딕" charset="0"/>
                <a:ea typeface="맑은 고딕" charset="0"/>
              </a:rPr>
              <a:t>o</a:t>
            </a:r>
            <a:r>
              <a:rPr lang="ko-KR" sz="1000" b="1">
                <a:latin typeface="맑은 고딕" charset="0"/>
                <a:ea typeface="맑은 고딕" charset="0"/>
              </a:rPr>
              <a:t>p_0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15" name="텍스트 상자 286"/>
          <p:cNvSpPr txBox="1">
            <a:spLocks/>
          </p:cNvSpPr>
          <p:nvPr/>
        </p:nvSpPr>
        <p:spPr>
          <a:xfrm rot="0">
            <a:off x="2808605" y="4700905"/>
            <a:ext cx="1373505" cy="2470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000" b="1">
                <a:latin typeface="맑은 고딕" charset="0"/>
                <a:ea typeface="맑은 고딕" charset="0"/>
              </a:rPr>
              <a:t>A</a:t>
            </a:r>
            <a:r>
              <a:rPr sz="1000" b="1">
                <a:latin typeface="맑은 고딕" charset="0"/>
                <a:ea typeface="맑은 고딕" charset="0"/>
              </a:rPr>
              <a:t>lways_2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pic>
        <p:nvPicPr>
          <p:cNvPr id="16" name="그림 287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628640" y="3989705"/>
            <a:ext cx="2789555" cy="2379980"/>
          </a:xfrm>
          <a:prstGeom prst="rect"/>
          <a:noFill/>
        </p:spPr>
      </p:pic>
      <p:sp>
        <p:nvSpPr>
          <p:cNvPr id="17" name="텍스트 상자 288"/>
          <p:cNvSpPr txBox="1">
            <a:spLocks/>
          </p:cNvSpPr>
          <p:nvPr/>
        </p:nvSpPr>
        <p:spPr>
          <a:xfrm rot="0">
            <a:off x="5631815" y="3744595"/>
            <a:ext cx="1373505" cy="2470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A</a:t>
            </a:r>
            <a:r>
              <a:rPr lang="ko-KR" sz="1000" b="1">
                <a:latin typeface="맑은 고딕" charset="0"/>
                <a:ea typeface="맑은 고딕" charset="0"/>
              </a:rPr>
              <a:t>lways_3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pic>
        <p:nvPicPr>
          <p:cNvPr id="18" name="그림 289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779510" y="2987040"/>
            <a:ext cx="2755265" cy="3389630"/>
          </a:xfrm>
          <a:prstGeom prst="rect"/>
          <a:noFill/>
        </p:spPr>
      </p:pic>
      <p:pic>
        <p:nvPicPr>
          <p:cNvPr id="19" name="그림 29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797175" y="4945380"/>
            <a:ext cx="2551430" cy="1427480"/>
          </a:xfrm>
          <a:prstGeom prst="rect"/>
          <a:noFill/>
        </p:spPr>
      </p:pic>
      <p:sp>
        <p:nvSpPr>
          <p:cNvPr id="20" name="텍스트 상자 291"/>
          <p:cNvSpPr txBox="1">
            <a:spLocks/>
          </p:cNvSpPr>
          <p:nvPr/>
        </p:nvSpPr>
        <p:spPr>
          <a:xfrm rot="0">
            <a:off x="8776970" y="2785745"/>
            <a:ext cx="1373505" cy="2470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000" b="1">
                <a:latin typeface="맑은 고딕" charset="0"/>
                <a:ea typeface="맑은 고딕" charset="0"/>
              </a:rPr>
              <a:t>A</a:t>
            </a:r>
            <a:r>
              <a:rPr lang="ko-KR" sz="1000" b="1">
                <a:latin typeface="맑은 고딕" charset="0"/>
                <a:ea typeface="맑은 고딕" charset="0"/>
              </a:rPr>
              <a:t>lways_</a:t>
            </a:r>
            <a:r>
              <a:rPr lang="ko-KR" sz="1000" b="1">
                <a:latin typeface="맑은 고딕" charset="0"/>
                <a:ea typeface="맑은 고딕" charset="0"/>
              </a:rPr>
              <a:t>4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1"/>
          <p:cNvSpPr txBox="1">
            <a:spLocks/>
          </p:cNvSpPr>
          <p:nvPr/>
        </p:nvSpPr>
        <p:spPr>
          <a:xfrm rot="0">
            <a:off x="1347470" y="3263900"/>
            <a:ext cx="2515235" cy="2470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000">
                <a:latin typeface="맑은 고딕" charset="0"/>
                <a:ea typeface="맑은 고딕" charset="0"/>
              </a:rPr>
              <a:t>d</a:t>
            </a:r>
            <a:r>
              <a:rPr lang="ko-KR" sz="1000">
                <a:latin typeface="맑은 고딕" charset="0"/>
                <a:ea typeface="맑은 고딕" charset="0"/>
              </a:rPr>
              <a:t>ouble f/f</a:t>
            </a:r>
            <a:r>
              <a:rPr lang="ko-KR" sz="1000">
                <a:latin typeface="맑은 고딕" charset="0"/>
                <a:ea typeface="맑은 고딕" charset="0"/>
              </a:rPr>
              <a:t> </a:t>
            </a:r>
            <a:r>
              <a:rPr lang="ko-KR" sz="1000">
                <a:latin typeface="맑은 고딕" charset="0"/>
                <a:ea typeface="맑은 고딕" charset="0"/>
              </a:rPr>
              <a:t>-&gt;</a:t>
            </a:r>
            <a:r>
              <a:rPr lang="ko-KR" sz="1000">
                <a:latin typeface="맑은 고딕" charset="0"/>
                <a:ea typeface="맑은 고딕" charset="0"/>
              </a:rPr>
              <a:t> Metastability방지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22" name="텍스트 상자 2"/>
          <p:cNvSpPr txBox="1">
            <a:spLocks/>
          </p:cNvSpPr>
          <p:nvPr/>
        </p:nvSpPr>
        <p:spPr>
          <a:xfrm rot="0">
            <a:off x="4830445" y="3260725"/>
            <a:ext cx="3262630" cy="27813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200">
                <a:latin typeface="맑은 고딕" charset="0"/>
                <a:ea typeface="맑은 고딕" charset="0"/>
              </a:rPr>
              <a:t>DEBOUNCE_LIMIT=2</a:t>
            </a:r>
            <a:r>
              <a:rPr lang="ko-KR" sz="1200">
                <a:latin typeface="맑은 고딕" charset="0"/>
                <a:ea typeface="맑은 고딕" charset="0"/>
              </a:rPr>
              <a:t>(</a:t>
            </a:r>
            <a:r>
              <a:rPr lang="ko-KR" sz="1200">
                <a:latin typeface="맑은 고딕" charset="0"/>
                <a:ea typeface="맑은 고딕" charset="0"/>
              </a:rPr>
              <a:t>20ns)</a:t>
            </a:r>
            <a:r>
              <a:rPr lang="ko-KR" sz="1200">
                <a:latin typeface="맑은 고딕" charset="0"/>
                <a:ea typeface="맑은 고딕" charset="0"/>
              </a:rPr>
              <a:t> </a:t>
            </a:r>
            <a:r>
              <a:rPr lang="ko-KR" sz="1200">
                <a:latin typeface="맑은 고딕" charset="0"/>
                <a:ea typeface="맑은 고딕" charset="0"/>
              </a:rPr>
              <a:t>-&gt;</a:t>
            </a:r>
            <a:r>
              <a:rPr lang="ko-KR" sz="1200">
                <a:latin typeface="맑은 고딕" charset="0"/>
                <a:ea typeface="맑은 고딕" charset="0"/>
              </a:rPr>
              <a:t>N</a:t>
            </a:r>
            <a:r>
              <a:rPr lang="ko-KR" sz="1200">
                <a:latin typeface="맑은 고딕" charset="0"/>
                <a:ea typeface="맑은 고딕" charset="0"/>
              </a:rPr>
              <a:t>oise fil</a:t>
            </a:r>
            <a:r>
              <a:rPr lang="ko-KR" sz="1200">
                <a:latin typeface="맑은 고딕" charset="0"/>
                <a:ea typeface="맑은 고딕" charset="0"/>
              </a:rPr>
              <a:t>t</a:t>
            </a:r>
            <a:r>
              <a:rPr lang="ko-KR" sz="1200">
                <a:latin typeface="맑은 고딕" charset="0"/>
                <a:ea typeface="맑은 고딕" charset="0"/>
              </a:rPr>
              <a:t>er</a:t>
            </a:r>
            <a:endParaRPr lang="ko-KR" altLang="en-US" sz="1000" b="1">
              <a:latin typeface="맑은 고딕" charset="0"/>
              <a:ea typeface="맑은 고딕" charset="0"/>
            </a:endParaRPr>
          </a:p>
        </p:txBody>
      </p:sp>
      <p:sp>
        <p:nvSpPr>
          <p:cNvPr id="23" name="텍스트 상자 3"/>
          <p:cNvSpPr txBox="1">
            <a:spLocks/>
          </p:cNvSpPr>
          <p:nvPr/>
        </p:nvSpPr>
        <p:spPr>
          <a:xfrm rot="0">
            <a:off x="8923655" y="2070100"/>
            <a:ext cx="3262630" cy="24701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000" b="0">
                <a:latin typeface="맑은 고딕" charset="0"/>
                <a:ea typeface="맑은 고딕" charset="0"/>
              </a:rPr>
              <a:t>D</a:t>
            </a:r>
            <a:r>
              <a:rPr lang="ko-KR" sz="1000" b="0">
                <a:latin typeface="맑은 고딕" charset="0"/>
                <a:ea typeface="맑은 고딕" charset="0"/>
              </a:rPr>
              <a:t>ebounce</a:t>
            </a:r>
            <a:r>
              <a:rPr lang="ko-KR" sz="1000" b="0">
                <a:latin typeface="맑은 고딕" charset="0"/>
                <a:ea typeface="맑은 고딕" charset="0"/>
              </a:rPr>
              <a:t> p</a:t>
            </a:r>
            <a:r>
              <a:rPr lang="ko-KR" sz="1000" b="0">
                <a:latin typeface="맑은 고딕" charset="0"/>
                <a:ea typeface="맑은 고딕" charset="0"/>
              </a:rPr>
              <a:t>ulse -&gt; </a:t>
            </a:r>
            <a:r>
              <a:rPr lang="ko-KR" sz="1000" b="0">
                <a:latin typeface="맑은 고딕" charset="0"/>
                <a:ea typeface="맑은 고딕" charset="0"/>
              </a:rPr>
              <a:t>1 </a:t>
            </a:r>
            <a:r>
              <a:rPr lang="ko-KR" sz="1000" b="0">
                <a:latin typeface="맑은 고딕" charset="0"/>
                <a:ea typeface="맑은 고딕" charset="0"/>
              </a:rPr>
              <a:t>clk </a:t>
            </a:r>
            <a:r>
              <a:rPr lang="ko-KR" sz="1000" b="0">
                <a:latin typeface="맑은 고딕" charset="0"/>
                <a:ea typeface="맑은 고딕" charset="0"/>
              </a:rPr>
              <a:t>pu</a:t>
            </a:r>
            <a:r>
              <a:rPr lang="ko-KR" sz="1000" b="0">
                <a:latin typeface="맑은 고딕" charset="0"/>
                <a:ea typeface="맑은 고딕" charset="0"/>
              </a:rPr>
              <a:t>lse</a:t>
            </a:r>
            <a:endParaRPr lang="ko-KR" altLang="en-US" sz="1000" b="0">
              <a:latin typeface="맑은 고딕" charset="0"/>
              <a:ea typeface="맑은 고딕" charset="0"/>
            </a:endParaRPr>
          </a:p>
        </p:txBody>
      </p:sp>
      <p:cxnSp>
        <p:nvCxnSpPr>
          <p:cNvPr id="24" name="도형 4"/>
          <p:cNvCxnSpPr/>
          <p:nvPr/>
        </p:nvCxnSpPr>
        <p:spPr>
          <a:xfrm rot="0">
            <a:off x="4430395" y="2332355"/>
            <a:ext cx="14287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5"/>
          <p:cNvCxnSpPr/>
          <p:nvPr/>
        </p:nvCxnSpPr>
        <p:spPr>
          <a:xfrm rot="0">
            <a:off x="8113395" y="1568450"/>
            <a:ext cx="14287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8"/>
          <p:cNvSpPr txBox="1">
            <a:spLocks noGrp="1"/>
          </p:cNvSpPr>
          <p:nvPr>
            <p:ph type="title" idx="1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텍스트 상자 59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S</a:t>
            </a:r>
            <a:r>
              <a:rPr lang="ko-KR" sz="2000" b="1">
                <a:latin typeface="+mj-lt"/>
                <a:ea typeface="+mj-ea"/>
                <a:cs typeface="+mj-cs"/>
              </a:rPr>
              <a:t>CHEMATIC</a:t>
            </a:r>
            <a:endParaRPr lang="ko-KR" altLang="en-US"/>
          </a:p>
        </p:txBody>
      </p:sp>
      <p:pic>
        <p:nvPicPr>
          <p:cNvPr id="7" name="그림 71" descr="C:/Users/user/AppData/Roaming/PolarisOffice/ETemp/9132_12101376/fImage804204457035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75590" y="1419860"/>
            <a:ext cx="9899650" cy="1758950"/>
          </a:xfrm>
          <a:prstGeom prst="rect"/>
          <a:noFill/>
        </p:spPr>
      </p:pic>
      <p:pic>
        <p:nvPicPr>
          <p:cNvPr id="8" name="그림 73" descr="C:/Users/user/AppData/Roaming/PolarisOffice/ETemp/9132_12101376/fImage1045964479894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8105" y="3307715"/>
            <a:ext cx="6451600" cy="2001520"/>
          </a:xfrm>
          <a:prstGeom prst="rect"/>
          <a:noFill/>
        </p:spPr>
      </p:pic>
      <p:pic>
        <p:nvPicPr>
          <p:cNvPr id="9" name="그림 74" descr="C:/Users/user/AppData/Roaming/PolarisOffice/ETemp/9132_12101376/fImage606184488703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659245" y="3247390"/>
            <a:ext cx="5394960" cy="2122170"/>
          </a:xfrm>
          <a:prstGeom prst="rect"/>
          <a:noFill/>
        </p:spPr>
      </p:pic>
      <p:sp>
        <p:nvSpPr>
          <p:cNvPr id="10" name="텍스트 상자 75"/>
          <p:cNvSpPr txBox="1">
            <a:spLocks/>
          </p:cNvSpPr>
          <p:nvPr/>
        </p:nvSpPr>
        <p:spPr>
          <a:xfrm rot="0">
            <a:off x="469265" y="5591175"/>
            <a:ext cx="11680190" cy="64770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200">
                <a:latin typeface="맑은 고딕" charset="0"/>
                <a:ea typeface="맑은 고딕" charset="0"/>
              </a:rPr>
              <a:t>Alw</a:t>
            </a:r>
            <a:r>
              <a:rPr lang="ko-KR" sz="1200">
                <a:latin typeface="맑은 고딕" charset="0"/>
                <a:ea typeface="맑은 고딕" charset="0"/>
              </a:rPr>
              <a:t>ays</a:t>
            </a:r>
            <a:r>
              <a:rPr lang="ko-KR" sz="1200">
                <a:latin typeface="맑은 고딕" charset="0"/>
                <a:ea typeface="맑은 고딕" charset="0"/>
              </a:rPr>
              <a:t>_</a:t>
            </a:r>
            <a:r>
              <a:rPr lang="ko-KR" sz="1200">
                <a:latin typeface="맑은 고딕" charset="0"/>
                <a:ea typeface="맑은 고딕" charset="0"/>
              </a:rPr>
              <a:t>0: </a:t>
            </a:r>
            <a:r>
              <a:rPr lang="ko-KR" sz="1200">
                <a:latin typeface="맑은 고딕" charset="0"/>
                <a:ea typeface="맑은 고딕" charset="0"/>
              </a:rPr>
              <a:t>2개의 </a:t>
            </a:r>
            <a:r>
              <a:rPr lang="ko-KR" sz="1200">
                <a:latin typeface="맑은 고딕" charset="0"/>
                <a:ea typeface="맑은 고딕" charset="0"/>
              </a:rPr>
              <a:t>f</a:t>
            </a:r>
            <a:r>
              <a:rPr lang="ko-KR" sz="1200">
                <a:latin typeface="맑은 고딕" charset="0"/>
                <a:ea typeface="맑은 고딕" charset="0"/>
              </a:rPr>
              <a:t>/</a:t>
            </a:r>
            <a:r>
              <a:rPr lang="ko-KR" sz="1200">
                <a:latin typeface="맑은 고딕" charset="0"/>
                <a:ea typeface="맑은 고딕" charset="0"/>
              </a:rPr>
              <a:t>f</a:t>
            </a:r>
            <a:r>
              <a:rPr lang="ko-KR" sz="1200">
                <a:latin typeface="맑은 고딕" charset="0"/>
                <a:ea typeface="맑은 고딕" charset="0"/>
              </a:rPr>
              <a:t>을 </a:t>
            </a:r>
            <a:r>
              <a:rPr lang="ko-KR" sz="1200">
                <a:latin typeface="맑은 고딕" charset="0"/>
                <a:ea typeface="맑은 고딕" charset="0"/>
              </a:rPr>
              <a:t>사용하</a:t>
            </a:r>
            <a:r>
              <a:rPr lang="ko-KR" sz="1200">
                <a:latin typeface="맑은 고딕" charset="0"/>
                <a:ea typeface="맑은 고딕" charset="0"/>
              </a:rPr>
              <a:t>여 불안정한 </a:t>
            </a:r>
            <a:r>
              <a:rPr lang="ko-KR" sz="1200">
                <a:latin typeface="맑은 고딕" charset="0"/>
                <a:ea typeface="맑은 고딕" charset="0"/>
              </a:rPr>
              <a:t>비동기</a:t>
            </a:r>
            <a:r>
              <a:rPr lang="ko-KR" sz="1200">
                <a:latin typeface="맑은 고딕" charset="0"/>
                <a:ea typeface="맑은 고딕" charset="0"/>
              </a:rPr>
              <a:t>신호(M</a:t>
            </a:r>
            <a:r>
              <a:rPr lang="ko-KR" sz="1200">
                <a:latin typeface="맑은 고딕" charset="0"/>
                <a:ea typeface="맑은 고딕" charset="0"/>
              </a:rPr>
              <a:t>etastability</a:t>
            </a:r>
            <a:r>
              <a:rPr lang="ko-KR" sz="1200">
                <a:latin typeface="맑은 고딕" charset="0"/>
                <a:ea typeface="맑은 고딕" charset="0"/>
              </a:rPr>
              <a:t>)를 </a:t>
            </a:r>
            <a:r>
              <a:rPr lang="ko-KR" sz="1200">
                <a:latin typeface="맑은 고딕" charset="0"/>
                <a:ea typeface="맑은 고딕" charset="0"/>
              </a:rPr>
              <a:t>안정</a:t>
            </a:r>
            <a:r>
              <a:rPr lang="ko-KR" sz="1200">
                <a:latin typeface="맑은 고딕" charset="0"/>
                <a:ea typeface="맑은 고딕" charset="0"/>
              </a:rPr>
              <a:t>화 된 </a:t>
            </a:r>
            <a:r>
              <a:rPr lang="ko-KR" sz="1200">
                <a:latin typeface="맑은 고딕" charset="0"/>
                <a:ea typeface="맑은 고딕" charset="0"/>
              </a:rPr>
              <a:t>신호</a:t>
            </a:r>
            <a:r>
              <a:rPr lang="ko-KR" sz="1200">
                <a:latin typeface="맑은 고딕" charset="0"/>
                <a:ea typeface="맑은 고딕" charset="0"/>
              </a:rPr>
              <a:t>로 </a:t>
            </a:r>
            <a:r>
              <a:rPr lang="ko-KR" sz="1200">
                <a:latin typeface="맑은 고딕" charset="0"/>
                <a:ea typeface="맑은 고딕" charset="0"/>
              </a:rPr>
              <a:t>변</a:t>
            </a:r>
            <a:r>
              <a:rPr lang="ko-KR" sz="1200">
                <a:latin typeface="맑은 고딕" charset="0"/>
                <a:ea typeface="맑은 고딕" charset="0"/>
              </a:rPr>
              <a:t>환 </a:t>
            </a:r>
            <a:r>
              <a:rPr lang="ko-KR" sz="1200">
                <a:latin typeface="맑은 고딕" charset="0"/>
                <a:ea typeface="맑은 고딕" charset="0"/>
              </a:rPr>
              <a:t>-&gt; 0</a:t>
            </a:r>
            <a:r>
              <a:rPr lang="ko-KR" sz="1200">
                <a:latin typeface="맑은 고딕" charset="0"/>
                <a:ea typeface="맑은 고딕" charset="0"/>
              </a:rPr>
              <a:t> </a:t>
            </a:r>
            <a:r>
              <a:rPr lang="ko-KR" sz="1200">
                <a:latin typeface="맑은 고딕" charset="0"/>
                <a:ea typeface="맑은 고딕" charset="0"/>
              </a:rPr>
              <a:t>o</a:t>
            </a:r>
            <a:r>
              <a:rPr lang="ko-KR" sz="1200">
                <a:latin typeface="맑은 고딕" charset="0"/>
                <a:ea typeface="맑은 고딕" charset="0"/>
              </a:rPr>
              <a:t>r</a:t>
            </a:r>
            <a:r>
              <a:rPr lang="ko-KR" sz="1200">
                <a:latin typeface="맑은 고딕" charset="0"/>
                <a:ea typeface="맑은 고딕" charset="0"/>
              </a:rPr>
              <a:t> 1</a:t>
            </a:r>
            <a:endParaRPr lang="ko-KR" altLang="en-US" sz="12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200">
                <a:latin typeface="맑은 고딕" charset="0"/>
                <a:ea typeface="맑은 고딕" charset="0"/>
              </a:rPr>
              <a:t>Alw</a:t>
            </a:r>
            <a:r>
              <a:rPr lang="ko-KR" sz="1200">
                <a:latin typeface="맑은 고딕" charset="0"/>
                <a:ea typeface="맑은 고딕" charset="0"/>
              </a:rPr>
              <a:t>ays_1</a:t>
            </a:r>
            <a:r>
              <a:rPr lang="ko-KR" sz="1200">
                <a:latin typeface="맑은 고딕" charset="0"/>
                <a:ea typeface="맑은 고딕" charset="0"/>
              </a:rPr>
              <a:t>:</a:t>
            </a:r>
            <a:r>
              <a:rPr lang="ko-KR" sz="1200">
                <a:latin typeface="맑은 고딕" charset="0"/>
                <a:ea typeface="맑은 고딕" charset="0"/>
              </a:rPr>
              <a:t> </a:t>
            </a:r>
            <a:r>
              <a:rPr lang="ko-KR" sz="1200">
                <a:latin typeface="맑은 고딕" charset="0"/>
                <a:ea typeface="맑은 고딕" charset="0"/>
              </a:rPr>
              <a:t>D</a:t>
            </a:r>
            <a:r>
              <a:rPr lang="ko-KR" sz="1200">
                <a:latin typeface="맑은 고딕" charset="0"/>
                <a:ea typeface="맑은 고딕" charset="0"/>
              </a:rPr>
              <a:t>EB</a:t>
            </a:r>
            <a:r>
              <a:rPr lang="ko-KR" sz="1200">
                <a:latin typeface="맑은 고딕" charset="0"/>
                <a:ea typeface="맑은 고딕" charset="0"/>
              </a:rPr>
              <a:t>O</a:t>
            </a:r>
            <a:r>
              <a:rPr lang="ko-KR" sz="1200">
                <a:latin typeface="맑은 고딕" charset="0"/>
                <a:ea typeface="맑은 고딕" charset="0"/>
              </a:rPr>
              <a:t>UNCE_LIMIT=2</a:t>
            </a:r>
            <a:r>
              <a:rPr lang="ko-KR" sz="1200">
                <a:latin typeface="맑은 고딕" charset="0"/>
                <a:ea typeface="맑은 고딕" charset="0"/>
              </a:rPr>
              <a:t>(c</a:t>
            </a:r>
            <a:r>
              <a:rPr lang="ko-KR" sz="1200">
                <a:latin typeface="맑은 고딕" charset="0"/>
                <a:ea typeface="맑은 고딕" charset="0"/>
              </a:rPr>
              <a:t>lk</a:t>
            </a:r>
            <a:r>
              <a:rPr lang="ko-KR" sz="1200">
                <a:latin typeface="맑은 고딕" charset="0"/>
                <a:ea typeface="맑은 고딕" charset="0"/>
              </a:rPr>
              <a:t>이 </a:t>
            </a:r>
            <a:r>
              <a:rPr lang="ko-KR" sz="1200">
                <a:latin typeface="맑은 고딕" charset="0"/>
                <a:ea typeface="맑은 고딕" charset="0"/>
              </a:rPr>
              <a:t>2</a:t>
            </a:r>
            <a:r>
              <a:rPr lang="ko-KR" sz="1200">
                <a:latin typeface="맑은 고딕" charset="0"/>
                <a:ea typeface="맑은 고딕" charset="0"/>
              </a:rPr>
              <a:t>번 반복되는 </a:t>
            </a:r>
            <a:r>
              <a:rPr lang="ko-KR" sz="1200">
                <a:latin typeface="맑은 고딕" charset="0"/>
                <a:ea typeface="맑은 고딕" charset="0"/>
              </a:rPr>
              <a:t>동</a:t>
            </a:r>
            <a:r>
              <a:rPr lang="ko-KR" sz="1200">
                <a:latin typeface="맑은 고딕" charset="0"/>
                <a:ea typeface="맑은 고딕" charset="0"/>
              </a:rPr>
              <a:t>안 </a:t>
            </a:r>
            <a:r>
              <a:rPr lang="ko-KR" sz="1200">
                <a:latin typeface="맑은 고딕" charset="0"/>
                <a:ea typeface="맑은 고딕" charset="0"/>
              </a:rPr>
              <a:t>버튼입력</a:t>
            </a:r>
            <a:r>
              <a:rPr lang="ko-KR" sz="1200">
                <a:latin typeface="맑은 고딕" charset="0"/>
                <a:ea typeface="맑은 고딕" charset="0"/>
              </a:rPr>
              <a:t> </a:t>
            </a:r>
            <a:r>
              <a:rPr lang="ko-KR" sz="1200">
                <a:latin typeface="맑은 고딕" charset="0"/>
                <a:ea typeface="맑은 고딕" charset="0"/>
              </a:rPr>
              <a:t>유</a:t>
            </a:r>
            <a:r>
              <a:rPr lang="ko-KR" sz="1200">
                <a:latin typeface="맑은 고딕" charset="0"/>
                <a:ea typeface="맑은 고딕" charset="0"/>
              </a:rPr>
              <a:t>지</a:t>
            </a:r>
            <a:r>
              <a:rPr lang="ko-KR" sz="1200">
                <a:latin typeface="맑은 고딕" charset="0"/>
                <a:ea typeface="맑은 고딕" charset="0"/>
              </a:rPr>
              <a:t>)</a:t>
            </a:r>
            <a:r>
              <a:rPr lang="ko-KR" sz="1200">
                <a:latin typeface="맑은 고딕" charset="0"/>
                <a:ea typeface="맑은 고딕" charset="0"/>
              </a:rPr>
              <a:t>를 </a:t>
            </a:r>
            <a:r>
              <a:rPr lang="ko-KR" sz="1200">
                <a:latin typeface="맑은 고딕" charset="0"/>
                <a:ea typeface="맑은 고딕" charset="0"/>
              </a:rPr>
              <a:t>바탕</a:t>
            </a:r>
            <a:r>
              <a:rPr lang="ko-KR" sz="1200">
                <a:latin typeface="맑은 고딕" charset="0"/>
                <a:ea typeface="맑은 고딕" charset="0"/>
              </a:rPr>
              <a:t>으로 </a:t>
            </a:r>
            <a:r>
              <a:rPr lang="ko-KR" sz="1200">
                <a:latin typeface="맑은 고딕" charset="0"/>
                <a:ea typeface="맑은 고딕" charset="0"/>
              </a:rPr>
              <a:t>노이</a:t>
            </a:r>
            <a:r>
              <a:rPr lang="ko-KR" sz="1200">
                <a:latin typeface="맑은 고딕" charset="0"/>
                <a:ea typeface="맑은 고딕" charset="0"/>
              </a:rPr>
              <a:t>즈 </a:t>
            </a:r>
            <a:r>
              <a:rPr lang="ko-KR" sz="1200">
                <a:latin typeface="맑은 고딕" charset="0"/>
                <a:ea typeface="맑은 고딕" charset="0"/>
              </a:rPr>
              <a:t>필더</a:t>
            </a:r>
            <a:r>
              <a:rPr lang="ko-KR" sz="1200">
                <a:latin typeface="맑은 고딕" charset="0"/>
                <a:ea typeface="맑은 고딕" charset="0"/>
              </a:rPr>
              <a:t>링 </a:t>
            </a:r>
            <a:r>
              <a:rPr lang="ko-KR" sz="1200">
                <a:latin typeface="맑은 고딕" charset="0"/>
                <a:ea typeface="맑은 고딕" charset="0"/>
              </a:rPr>
              <a:t>-</a:t>
            </a:r>
            <a:r>
              <a:rPr lang="ko-KR" sz="1200">
                <a:latin typeface="맑은 고딕" charset="0"/>
                <a:ea typeface="맑은 고딕" charset="0"/>
              </a:rPr>
              <a:t>&gt; </a:t>
            </a:r>
            <a:r>
              <a:rPr lang="ko-KR" sz="1200">
                <a:latin typeface="맑은 고딕" charset="0"/>
                <a:ea typeface="맑은 고딕" charset="0"/>
              </a:rPr>
              <a:t>20ns </a:t>
            </a:r>
            <a:r>
              <a:rPr lang="ko-KR" sz="1200">
                <a:latin typeface="맑은 고딕" charset="0"/>
                <a:ea typeface="맑은 고딕" charset="0"/>
              </a:rPr>
              <a:t>이상 </a:t>
            </a:r>
            <a:r>
              <a:rPr lang="ko-KR" sz="1200">
                <a:latin typeface="맑은 고딕" charset="0"/>
                <a:ea typeface="맑은 고딕" charset="0"/>
              </a:rPr>
              <a:t>눌러</a:t>
            </a:r>
            <a:r>
              <a:rPr lang="ko-KR" sz="1200">
                <a:latin typeface="맑은 고딕" charset="0"/>
                <a:ea typeface="맑은 고딕" charset="0"/>
              </a:rPr>
              <a:t>야 </a:t>
            </a:r>
            <a:r>
              <a:rPr lang="ko-KR" sz="1200">
                <a:latin typeface="맑은 고딕" charset="0"/>
                <a:ea typeface="맑은 고딕" charset="0"/>
              </a:rPr>
              <a:t>통</a:t>
            </a:r>
            <a:r>
              <a:rPr lang="ko-KR" sz="1200">
                <a:latin typeface="맑은 고딕" charset="0"/>
                <a:ea typeface="맑은 고딕" charset="0"/>
              </a:rPr>
              <a:t>과</a:t>
            </a:r>
            <a:endParaRPr lang="ko-KR" altLang="en-US" sz="12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200">
                <a:latin typeface="맑은 고딕" charset="0"/>
                <a:ea typeface="맑은 고딕" charset="0"/>
              </a:rPr>
              <a:t>F</a:t>
            </a:r>
            <a:r>
              <a:rPr lang="ko-KR" sz="1200">
                <a:latin typeface="맑은 고딕" charset="0"/>
                <a:ea typeface="맑은 고딕" charset="0"/>
              </a:rPr>
              <a:t>/F_0: </a:t>
            </a:r>
            <a:r>
              <a:rPr lang="ko-KR" sz="1200">
                <a:latin typeface="맑은 고딕" charset="0"/>
                <a:ea typeface="맑은 고딕" charset="0"/>
              </a:rPr>
              <a:t>D</a:t>
            </a:r>
            <a:r>
              <a:rPr lang="ko-KR" sz="1200">
                <a:latin typeface="맑은 고딕" charset="0"/>
                <a:ea typeface="맑은 고딕" charset="0"/>
              </a:rPr>
              <a:t>ebo</a:t>
            </a:r>
            <a:r>
              <a:rPr lang="ko-KR" sz="1200">
                <a:latin typeface="맑은 고딕" charset="0"/>
                <a:ea typeface="맑은 고딕" charset="0"/>
              </a:rPr>
              <a:t>u</a:t>
            </a:r>
            <a:r>
              <a:rPr lang="ko-KR" sz="1200">
                <a:latin typeface="맑은 고딕" charset="0"/>
                <a:ea typeface="맑은 고딕" charset="0"/>
              </a:rPr>
              <a:t>nce</a:t>
            </a:r>
            <a:r>
              <a:rPr lang="ko-KR" sz="1200">
                <a:latin typeface="맑은 고딕" charset="0"/>
                <a:ea typeface="맑은 고딕" charset="0"/>
              </a:rPr>
              <a:t>가 </a:t>
            </a:r>
            <a:r>
              <a:rPr lang="ko-KR" sz="1200">
                <a:latin typeface="맑은 고딕" charset="0"/>
                <a:ea typeface="맑은 고딕" charset="0"/>
              </a:rPr>
              <a:t>끝</a:t>
            </a:r>
            <a:r>
              <a:rPr lang="ko-KR" sz="1200">
                <a:latin typeface="맑은 고딕" charset="0"/>
                <a:ea typeface="맑은 고딕" charset="0"/>
              </a:rPr>
              <a:t>난 </a:t>
            </a:r>
            <a:r>
              <a:rPr lang="ko-KR" sz="1200">
                <a:latin typeface="맑은 고딕" charset="0"/>
                <a:ea typeface="맑은 고딕" charset="0"/>
              </a:rPr>
              <a:t>신호</a:t>
            </a:r>
            <a:r>
              <a:rPr lang="ko-KR" sz="1200">
                <a:latin typeface="맑은 고딕" charset="0"/>
                <a:ea typeface="맑은 고딕" charset="0"/>
              </a:rPr>
              <a:t>를 </a:t>
            </a:r>
            <a:r>
              <a:rPr lang="ko-KR" sz="1200">
                <a:latin typeface="맑은 고딕" charset="0"/>
                <a:ea typeface="맑은 고딕" charset="0"/>
              </a:rPr>
              <a:t>이전상태</a:t>
            </a:r>
            <a:r>
              <a:rPr lang="ko-KR" sz="1200">
                <a:latin typeface="맑은 고딕" charset="0"/>
                <a:ea typeface="맑은 고딕" charset="0"/>
              </a:rPr>
              <a:t>와 </a:t>
            </a:r>
            <a:r>
              <a:rPr lang="ko-KR" sz="1200">
                <a:latin typeface="맑은 고딕" charset="0"/>
                <a:ea typeface="맑은 고딕" charset="0"/>
              </a:rPr>
              <a:t>비교하</a:t>
            </a:r>
            <a:r>
              <a:rPr lang="ko-KR" sz="1200">
                <a:latin typeface="맑은 고딕" charset="0"/>
                <a:ea typeface="맑은 고딕" charset="0"/>
              </a:rPr>
              <a:t>여 </a:t>
            </a:r>
            <a:r>
              <a:rPr lang="ko-KR" sz="1200">
                <a:latin typeface="맑은 고딕" charset="0"/>
                <a:ea typeface="맑은 고딕" charset="0"/>
              </a:rPr>
              <a:t>1</a:t>
            </a:r>
            <a:r>
              <a:rPr lang="ko-KR" sz="1200">
                <a:latin typeface="맑은 고딕" charset="0"/>
                <a:ea typeface="맑은 고딕" charset="0"/>
              </a:rPr>
              <a:t>c</a:t>
            </a:r>
            <a:r>
              <a:rPr lang="ko-KR" sz="1200">
                <a:latin typeface="맑은 고딕" charset="0"/>
                <a:ea typeface="맑은 고딕" charset="0"/>
              </a:rPr>
              <a:t>lk 펄스</a:t>
            </a:r>
            <a:r>
              <a:rPr lang="ko-KR" sz="1200">
                <a:latin typeface="맑은 고딕" charset="0"/>
                <a:ea typeface="맑은 고딕" charset="0"/>
              </a:rPr>
              <a:t>를 </a:t>
            </a:r>
            <a:r>
              <a:rPr lang="ko-KR" sz="1200">
                <a:latin typeface="맑은 고딕" charset="0"/>
                <a:ea typeface="맑은 고딕" charset="0"/>
              </a:rPr>
              <a:t>만</a:t>
            </a:r>
            <a:r>
              <a:rPr lang="ko-KR" sz="1200">
                <a:latin typeface="맑은 고딕" charset="0"/>
                <a:ea typeface="맑은 고딕" charset="0"/>
              </a:rPr>
              <a:t>듦</a:t>
            </a:r>
            <a:r>
              <a:rPr lang="ko-KR" sz="1200">
                <a:latin typeface="맑은 고딕" charset="0"/>
                <a:ea typeface="맑은 고딕" charset="0"/>
              </a:rPr>
              <a:t> </a:t>
            </a:r>
            <a:r>
              <a:rPr lang="ko-KR" sz="1200">
                <a:latin typeface="맑은 고딕" charset="0"/>
                <a:ea typeface="맑은 고딕" charset="0"/>
              </a:rPr>
              <a:t>-&gt; </a:t>
            </a:r>
            <a:r>
              <a:rPr lang="ko-KR" sz="1200">
                <a:latin typeface="맑은 고딕" charset="0"/>
                <a:ea typeface="맑은 고딕" charset="0"/>
              </a:rPr>
              <a:t>c</a:t>
            </a:r>
            <a:r>
              <a:rPr lang="ko-KR" sz="1200">
                <a:latin typeface="맑은 고딕" charset="0"/>
                <a:ea typeface="맑은 고딕" charset="0"/>
              </a:rPr>
              <a:t>ounter</a:t>
            </a:r>
            <a:r>
              <a:rPr lang="ko-KR" sz="1200">
                <a:latin typeface="맑은 고딕" charset="0"/>
                <a:ea typeface="맑은 고딕" charset="0"/>
              </a:rPr>
              <a:t>에 </a:t>
            </a:r>
            <a:r>
              <a:rPr lang="ko-KR" sz="1200">
                <a:latin typeface="맑은 고딕" charset="0"/>
                <a:ea typeface="맑은 고딕" charset="0"/>
              </a:rPr>
              <a:t>들어</a:t>
            </a:r>
            <a:r>
              <a:rPr lang="ko-KR" sz="1200">
                <a:latin typeface="맑은 고딕" charset="0"/>
                <a:ea typeface="맑은 고딕" charset="0"/>
              </a:rPr>
              <a:t>갈 1 </a:t>
            </a:r>
            <a:r>
              <a:rPr lang="ko-KR" sz="1200">
                <a:latin typeface="맑은 고딕" charset="0"/>
                <a:ea typeface="맑은 고딕" charset="0"/>
              </a:rPr>
              <a:t>clk</a:t>
            </a:r>
            <a:r>
              <a:rPr lang="ko-KR" sz="1200">
                <a:latin typeface="맑은 고딕" charset="0"/>
                <a:ea typeface="맑은 고딕" charset="0"/>
              </a:rPr>
              <a:t> p</a:t>
            </a:r>
            <a:r>
              <a:rPr lang="ko-KR" sz="1200">
                <a:latin typeface="맑은 고딕" charset="0"/>
                <a:ea typeface="맑은 고딕" charset="0"/>
              </a:rPr>
              <a:t>ulse 생</a:t>
            </a:r>
            <a:r>
              <a:rPr lang="ko-KR" sz="1200">
                <a:latin typeface="맑은 고딕" charset="0"/>
                <a:ea typeface="맑은 고딕" charset="0"/>
              </a:rPr>
              <a:t>성</a:t>
            </a:r>
            <a:endParaRPr lang="ko-KR" altLang="en-US" sz="12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872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66"/>
          <p:cNvSpPr txBox="1">
            <a:spLocks noGrp="1"/>
          </p:cNvSpPr>
          <p:nvPr>
            <p:ph type="title" idx="1"/>
          </p:nvPr>
        </p:nvSpPr>
        <p:spPr>
          <a:xfrm rot="0">
            <a:off x="838200" y="365125"/>
            <a:ext cx="10516235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SE</a:t>
            </a:r>
            <a:r>
              <a:rPr lang="ko-KR" sz="3200" b="1">
                <a:latin typeface="맑은 고딕" charset="0"/>
                <a:ea typeface="맑은 고딕" charset="0"/>
                <a:cs typeface="+mj-cs"/>
              </a:rPr>
              <a:t>Q_LOGIC</a:t>
            </a:r>
            <a:endParaRPr lang="ko-KR" altLang="en-US" sz="3200" b="1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7" name="텍스트 상자 67"/>
          <p:cNvSpPr txBox="1">
            <a:spLocks noGrp="1"/>
          </p:cNvSpPr>
          <p:nvPr/>
        </p:nvSpPr>
        <p:spPr>
          <a:xfrm rot="0">
            <a:off x="835025" y="904875"/>
            <a:ext cx="4892040" cy="62166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2000" b="1">
                <a:latin typeface="+mj-lt"/>
                <a:ea typeface="+mj-ea"/>
                <a:cs typeface="+mj-cs"/>
              </a:rPr>
              <a:t>T</a:t>
            </a:r>
            <a:r>
              <a:rPr lang="ko-KR" sz="2000" b="1">
                <a:latin typeface="+mj-lt"/>
                <a:ea typeface="+mj-ea"/>
                <a:cs typeface="+mj-cs"/>
              </a:rPr>
              <a:t>ESTB</a:t>
            </a:r>
            <a:r>
              <a:rPr lang="ko-KR" sz="2000" b="1">
                <a:latin typeface="+mj-lt"/>
                <a:ea typeface="+mj-ea"/>
                <a:cs typeface="+mj-cs"/>
              </a:rPr>
              <a:t>EN</a:t>
            </a:r>
            <a:r>
              <a:rPr lang="ko-KR" sz="2000" b="1">
                <a:latin typeface="+mj-lt"/>
                <a:ea typeface="+mj-ea"/>
                <a:cs typeface="+mj-cs"/>
              </a:rPr>
              <a:t>CH</a:t>
            </a:r>
            <a:endParaRPr lang="ko-KR" altLang="en-US"/>
          </a:p>
        </p:txBody>
      </p:sp>
      <p:sp>
        <p:nvSpPr>
          <p:cNvPr id="8" name="텍스트 상자 68"/>
          <p:cNvSpPr txBox="1">
            <a:spLocks/>
          </p:cNvSpPr>
          <p:nvPr/>
        </p:nvSpPr>
        <p:spPr>
          <a:xfrm rot="0">
            <a:off x="5481955" y="1216025"/>
            <a:ext cx="4573270" cy="493395"/>
          </a:xfrm>
          <a:prstGeom prst="rect"/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228600" indent="-228600">
              <a:buFont typeface="맑은 고딕"/>
              <a:buChar char="•"/>
            </a:pPr>
            <a:r>
              <a:rPr sz="1600" b="1"/>
              <a:t>DEBOUNCE_LIMIT = 2</a:t>
            </a:r>
            <a:r>
              <a:rPr lang="ko-KR" sz="1600" b="1"/>
              <a:t>; </a:t>
            </a:r>
            <a:r>
              <a:rPr lang="ko-KR" sz="1600" b="0">
                <a:latin typeface="+mn-lt"/>
                <a:ea typeface="+mn-ea"/>
                <a:cs typeface="+mn-cs"/>
              </a:rPr>
              <a:t>20ns(2주기)동안 눌러야 신호 통과</a:t>
            </a:r>
            <a:endParaRPr lang="ko-KR" altLang="en-US" sz="1600" b="0">
              <a:latin typeface="+mn-lt"/>
              <a:ea typeface="+mn-ea"/>
              <a:cs typeface="+mn-cs"/>
            </a:endParaRPr>
          </a:p>
        </p:txBody>
      </p:sp>
      <p:pic>
        <p:nvPicPr>
          <p:cNvPr id="9" name="그림 1" descr="C:/Users/user/AppData/Roaming/PolarisOffice/ETemp/20588_22602520/fImage17598317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01900" y="1028700"/>
            <a:ext cx="2806700" cy="5721350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2712406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Waveform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1" y="986118"/>
            <a:ext cx="9145276" cy="17242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5657" y="5007428"/>
            <a:ext cx="8766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 err="1" smtClean="0"/>
              <a:t>i_btn</a:t>
            </a:r>
            <a:r>
              <a:rPr lang="ko-KR" altLang="en-US" dirty="0" smtClean="0"/>
              <a:t> </a:t>
            </a:r>
            <a:r>
              <a:rPr lang="en-US" altLang="ko-KR" dirty="0" smtClean="0"/>
              <a:t>== 1</a:t>
            </a:r>
            <a:r>
              <a:rPr lang="en-US" altLang="ko-KR" dirty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IDLE(2’b00)</a:t>
            </a:r>
            <a:r>
              <a:rPr lang="ko-KR" altLang="en-US" dirty="0"/>
              <a:t> </a:t>
            </a:r>
            <a:r>
              <a:rPr lang="en-US" altLang="ko-KR" dirty="0" smtClean="0"/>
              <a:t>-&gt; START(2’b01)</a:t>
            </a:r>
          </a:p>
          <a:p>
            <a:pPr marL="342900" indent="-342900">
              <a:buFontTx/>
              <a:buAutoNum type="arabicParenR"/>
            </a:pPr>
            <a:r>
              <a:rPr lang="en-US" altLang="ko-KR" dirty="0" err="1" smtClean="0"/>
              <a:t>i_btn</a:t>
            </a:r>
            <a:r>
              <a:rPr lang="en-US" altLang="ko-KR" dirty="0" smtClean="0"/>
              <a:t> == 1,</a:t>
            </a:r>
            <a:r>
              <a:rPr lang="ko-KR" altLang="en-US" dirty="0" smtClean="0"/>
              <a:t> </a:t>
            </a:r>
            <a:r>
              <a:rPr lang="en-US" altLang="ko-KR" dirty="0" smtClean="0"/>
              <a:t>START(2’b01) -&gt; STOP(2’b10)</a:t>
            </a:r>
          </a:p>
          <a:p>
            <a:r>
              <a:rPr lang="en-US" altLang="ko-KR" dirty="0" smtClean="0"/>
              <a:t>3) </a:t>
            </a:r>
            <a:r>
              <a:rPr lang="en-US" altLang="ko-KR" dirty="0" err="1" smtClean="0"/>
              <a:t>o_cnt</a:t>
            </a:r>
            <a:r>
              <a:rPr lang="en-US" altLang="ko-KR" dirty="0" smtClean="0"/>
              <a:t> == 99 -&gt; 1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0" y="2906273"/>
            <a:ext cx="9116697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7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Synthesis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170785"/>
            <a:ext cx="5053149" cy="33656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928679"/>
            <a:ext cx="5053149" cy="16253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70785"/>
            <a:ext cx="5699760" cy="2529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99508" y="4503744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</a:t>
            </a:r>
            <a:r>
              <a:rPr lang="en-US" altLang="ko-KR" b="1" dirty="0" smtClean="0"/>
              <a:t>erformance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52205" y="6488668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Area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8577943" y="3699881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Power</a:t>
            </a:r>
            <a:endParaRPr lang="ko-KR" altLang="en-US" b="1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44251"/>
              </p:ext>
            </p:extLst>
          </p:nvPr>
        </p:nvGraphicFramePr>
        <p:xfrm>
          <a:off x="6441439" y="4303087"/>
          <a:ext cx="5008881" cy="166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627">
                  <a:extLst>
                    <a:ext uri="{9D8B030D-6E8A-4147-A177-3AD203B41FA5}">
                      <a16:colId xmlns:a16="http://schemas.microsoft.com/office/drawing/2014/main" val="852031728"/>
                    </a:ext>
                  </a:extLst>
                </a:gridCol>
                <a:gridCol w="1738328">
                  <a:extLst>
                    <a:ext uri="{9D8B030D-6E8A-4147-A177-3AD203B41FA5}">
                      <a16:colId xmlns:a16="http://schemas.microsoft.com/office/drawing/2014/main" val="3795491637"/>
                    </a:ext>
                  </a:extLst>
                </a:gridCol>
                <a:gridCol w="1600926">
                  <a:extLst>
                    <a:ext uri="{9D8B030D-6E8A-4147-A177-3AD203B41FA5}">
                      <a16:colId xmlns:a16="http://schemas.microsoft.com/office/drawing/2014/main" val="1499445013"/>
                    </a:ext>
                  </a:extLst>
                </a:gridCol>
              </a:tblGrid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PPA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> Metrics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합성 결과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90249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Performance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6,77ps(6.778ns)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Worst-Case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조건 만족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81000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Area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427.158um^2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Cell</a:t>
                      </a:r>
                      <a:r>
                        <a:rPr lang="en-US" altLang="ko-KR" sz="1200" baseline="0" dirty="0" smtClean="0"/>
                        <a:t> 138</a:t>
                      </a:r>
                      <a:r>
                        <a:rPr lang="ko-KR" altLang="en-US" sz="1200" baseline="0" dirty="0" smtClean="0"/>
                        <a:t>개 최적화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3774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Power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11.65uW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Leakage:</a:t>
                      </a:r>
                      <a:r>
                        <a:rPr lang="en-US" altLang="ko-KR" sz="1200" baseline="0" dirty="0" smtClean="0"/>
                        <a:t> 7.96nW / Dynamic: 11.64uW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366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161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APR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309" y="1857830"/>
            <a:ext cx="5119338" cy="181388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309" y="4534852"/>
            <a:ext cx="4243522" cy="19675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91" y="986118"/>
            <a:ext cx="6441001" cy="5748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0309" y="1364343"/>
            <a:ext cx="226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DRC: 0 Viols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50308" y="4165520"/>
            <a:ext cx="4516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Connectivity: no </a:t>
            </a:r>
            <a:r>
              <a:rPr lang="en-US" altLang="ko-KR" b="1" dirty="0" err="1" smtClean="0"/>
              <a:t>probloms</a:t>
            </a:r>
            <a:r>
              <a:rPr lang="en-US" altLang="ko-KR" b="1" dirty="0" smtClean="0"/>
              <a:t> or warnings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140030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23</Pages>
  <Paragraphs>83</Paragraphs>
  <Words>201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Seungan Woo</dc:creator>
  <cp:lastModifiedBy>한만혁</cp:lastModifiedBy>
  <dc:title>LED Control with FPGA</dc:title>
  <cp:version>10.105.286.56066</cp:version>
  <dcterms:modified xsi:type="dcterms:W3CDTF">2026-07-09T05:07:49Z</dcterms:modified>
</cp:coreProperties>
</file>