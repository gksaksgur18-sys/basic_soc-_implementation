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0" r:id="rId2"/>
    <p:sldId id="682" r:id="rId3"/>
    <p:sldId id="684" r:id="rId4"/>
    <p:sldId id="685" r:id="rId5"/>
    <p:sldId id="644" r:id="rId6"/>
    <p:sldId id="686" r:id="rId7"/>
    <p:sldId id="683" r:id="rId8"/>
    <p:sldId id="687" r:id="rId9"/>
    <p:sldId id="688" r:id="rId10"/>
    <p:sldId id="68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82"/>
            <p14:sldId id="684"/>
            <p14:sldId id="685"/>
            <p14:sldId id="644"/>
            <p14:sldId id="686"/>
            <p14:sldId id="683"/>
            <p14:sldId id="687"/>
            <p14:sldId id="688"/>
            <p14:sldId id="6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5520" autoAdjust="0"/>
  </p:normalViewPr>
  <p:slideViewPr>
    <p:cSldViewPr snapToGrid="0" showGuides="1">
      <p:cViewPr varScale="1">
        <p:scale>
          <a:sx n="86" d="100"/>
          <a:sy n="86" d="100"/>
        </p:scale>
        <p:origin x="120" y="23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3820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699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29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11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492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9474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8599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55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2026-07-09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802161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r>
              <a:rPr lang="en-US" altLang="ko-KR" dirty="0">
                <a:latin typeface="+mj-lt"/>
              </a:rPr>
              <a:t/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3917510"/>
            <a:ext cx="7689344" cy="438950"/>
          </a:xfrm>
        </p:spPr>
        <p:txBody>
          <a:bodyPr/>
          <a:lstStyle/>
          <a:p>
            <a:r>
              <a:rPr lang="ko-KR" altLang="en-US" b="1" dirty="0"/>
              <a:t>중간점검</a:t>
            </a:r>
            <a:r>
              <a:rPr lang="en-US" altLang="ko-KR" b="1" dirty="0"/>
              <a:t>: Basic Sequential Logic Circuit / Synthesis / PNR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altLang="ko-KR" dirty="0" smtClean="0"/>
              <a:t>100</a:t>
            </a:r>
            <a:r>
              <a:rPr lang="ko-KR" altLang="en-US" dirty="0" smtClean="0"/>
              <a:t>진 카운터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</a:t>
            </a:r>
            <a:r>
              <a:rPr lang="en-US" sz="3200" dirty="0" smtClean="0"/>
              <a:t>State Machine</a:t>
            </a:r>
            <a:endParaRPr lang="en-CA" sz="3200" dirty="0"/>
          </a:p>
        </p:txBody>
      </p:sp>
      <p:sp>
        <p:nvSpPr>
          <p:cNvPr id="4" name="순서도: 연결자 3"/>
          <p:cNvSpPr/>
          <p:nvPr/>
        </p:nvSpPr>
        <p:spPr>
          <a:xfrm>
            <a:off x="1750423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99706" y="3638006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IDLE</a:t>
            </a:r>
            <a:endParaRPr lang="ko-KR" altLang="en-US" dirty="0"/>
          </a:p>
        </p:txBody>
      </p:sp>
      <p:sp>
        <p:nvSpPr>
          <p:cNvPr id="7" name="순서도: 연결자 6"/>
          <p:cNvSpPr/>
          <p:nvPr/>
        </p:nvSpPr>
        <p:spPr>
          <a:xfrm>
            <a:off x="5090161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292636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RUN</a:t>
            </a:r>
            <a:endParaRPr lang="ko-KR" altLang="en-US" dirty="0"/>
          </a:p>
        </p:txBody>
      </p:sp>
      <p:sp>
        <p:nvSpPr>
          <p:cNvPr id="9" name="순서도: 연결자 8"/>
          <p:cNvSpPr/>
          <p:nvPr/>
        </p:nvSpPr>
        <p:spPr>
          <a:xfrm>
            <a:off x="8429899" y="3135086"/>
            <a:ext cx="1382486" cy="1371600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8669384" y="3618411"/>
            <a:ext cx="94052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STOP</a:t>
            </a:r>
            <a:endParaRPr lang="ko-KR" altLang="en-US" dirty="0"/>
          </a:p>
        </p:txBody>
      </p:sp>
      <p:cxnSp>
        <p:nvCxnSpPr>
          <p:cNvPr id="12" name="구부러진 연결선 11"/>
          <p:cNvCxnSpPr>
            <a:stCxn id="14" idx="2"/>
            <a:endCxn id="4" idx="2"/>
          </p:cNvCxnSpPr>
          <p:nvPr/>
        </p:nvCxnSpPr>
        <p:spPr>
          <a:xfrm rot="16200000" flipH="1">
            <a:off x="748741" y="2819204"/>
            <a:ext cx="1297970" cy="70539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549" y="2153584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</a:t>
            </a:r>
            <a:r>
              <a:rPr lang="en-US" altLang="ko-KR" dirty="0" err="1" smtClean="0"/>
              <a:t>st_n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4" idx="6"/>
            <a:endCxn id="7" idx="2"/>
          </p:cNvCxnSpPr>
          <p:nvPr/>
        </p:nvCxnSpPr>
        <p:spPr>
          <a:xfrm>
            <a:off x="3132909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7" idx="6"/>
            <a:endCxn id="9" idx="2"/>
          </p:cNvCxnSpPr>
          <p:nvPr/>
        </p:nvCxnSpPr>
        <p:spPr>
          <a:xfrm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53889" y="3478125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794865" y="3497720"/>
            <a:ext cx="151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 btn_0 </a:t>
            </a:r>
          </a:p>
          <a:p>
            <a:r>
              <a:rPr lang="en-US" altLang="ko-KR" dirty="0" smtClean="0"/>
              <a:t>(</a:t>
            </a:r>
            <a:r>
              <a:rPr lang="en-US" altLang="ko-KR" dirty="0" err="1" smtClean="0"/>
              <a:t>btn</a:t>
            </a:r>
            <a:r>
              <a:rPr lang="en-US" altLang="ko-KR" dirty="0" smtClean="0"/>
              <a:t> == 1)</a:t>
            </a:r>
            <a:endParaRPr lang="ko-KR" altLang="en-US" dirty="0"/>
          </a:p>
        </p:txBody>
      </p:sp>
      <p:cxnSp>
        <p:nvCxnSpPr>
          <p:cNvPr id="90" name="직선 화살표 연결선 89"/>
          <p:cNvCxnSpPr>
            <a:stCxn id="9" idx="2"/>
            <a:endCxn id="7" idx="6"/>
          </p:cNvCxnSpPr>
          <p:nvPr/>
        </p:nvCxnSpPr>
        <p:spPr>
          <a:xfrm flipH="1">
            <a:off x="6472647" y="3820886"/>
            <a:ext cx="19572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59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Schematic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73" y="1446239"/>
            <a:ext cx="11165653" cy="300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7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RTL Coding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39349"/>
            <a:ext cx="3719286" cy="128605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978634"/>
            <a:ext cx="4448796" cy="281979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6008" y="1140053"/>
            <a:ext cx="5287113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Testbench</a:t>
            </a:r>
            <a:endParaRPr lang="en-CA" sz="3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86118"/>
            <a:ext cx="3630445" cy="553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0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Design: Waveform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361" y="986118"/>
            <a:ext cx="9145276" cy="17242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75657" y="5007428"/>
            <a:ext cx="8766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altLang="ko-KR" dirty="0" err="1" smtClean="0"/>
              <a:t>i_btn</a:t>
            </a:r>
            <a:r>
              <a:rPr lang="ko-KR" altLang="en-US" dirty="0" smtClean="0"/>
              <a:t> </a:t>
            </a:r>
            <a:r>
              <a:rPr lang="en-US" altLang="ko-KR" dirty="0" smtClean="0"/>
              <a:t>== 1</a:t>
            </a:r>
            <a:r>
              <a:rPr lang="en-US" altLang="ko-KR" dirty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IDLE(2’b00)</a:t>
            </a:r>
            <a:r>
              <a:rPr lang="ko-KR" altLang="en-US" dirty="0"/>
              <a:t> </a:t>
            </a:r>
            <a:r>
              <a:rPr lang="en-US" altLang="ko-KR" dirty="0" smtClean="0"/>
              <a:t>-&gt; START(2’b01)</a:t>
            </a:r>
          </a:p>
          <a:p>
            <a:pPr marL="342900" indent="-342900">
              <a:buFontTx/>
              <a:buAutoNum type="arabicParenR"/>
            </a:pPr>
            <a:r>
              <a:rPr lang="en-US" altLang="ko-KR" dirty="0" err="1" smtClean="0"/>
              <a:t>i_btn</a:t>
            </a:r>
            <a:r>
              <a:rPr lang="en-US" altLang="ko-KR" dirty="0" smtClean="0"/>
              <a:t> == 1,</a:t>
            </a:r>
            <a:r>
              <a:rPr lang="ko-KR" altLang="en-US" dirty="0" smtClean="0"/>
              <a:t> </a:t>
            </a:r>
            <a:r>
              <a:rPr lang="en-US" altLang="ko-KR" dirty="0" smtClean="0"/>
              <a:t>START(2’b01) -&gt; STOP(2’b10)</a:t>
            </a:r>
          </a:p>
          <a:p>
            <a:r>
              <a:rPr lang="en-US" altLang="ko-KR" dirty="0" smtClean="0"/>
              <a:t>3) </a:t>
            </a:r>
            <a:r>
              <a:rPr lang="en-US" altLang="ko-KR" dirty="0" err="1" smtClean="0"/>
              <a:t>o_cnt</a:t>
            </a:r>
            <a:r>
              <a:rPr lang="en-US" altLang="ko-KR" dirty="0" smtClean="0"/>
              <a:t> == 99 -&gt; 1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940" y="2906273"/>
            <a:ext cx="91166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976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Synthesis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170785"/>
            <a:ext cx="5053149" cy="336565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928679"/>
            <a:ext cx="5053149" cy="1625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0785"/>
            <a:ext cx="5699760" cy="25290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99508" y="45037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</a:t>
            </a:r>
            <a:r>
              <a:rPr lang="en-US" altLang="ko-KR" b="1" dirty="0" smtClean="0"/>
              <a:t>erformance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952205" y="6488668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Area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77943" y="3699881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Power</a:t>
            </a:r>
            <a:endParaRPr lang="ko-KR" altLang="en-US" b="1" dirty="0"/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44251"/>
              </p:ext>
            </p:extLst>
          </p:nvPr>
        </p:nvGraphicFramePr>
        <p:xfrm>
          <a:off x="6441439" y="4303087"/>
          <a:ext cx="5008881" cy="1662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627">
                  <a:extLst>
                    <a:ext uri="{9D8B030D-6E8A-4147-A177-3AD203B41FA5}">
                      <a16:colId xmlns:a16="http://schemas.microsoft.com/office/drawing/2014/main" val="852031728"/>
                    </a:ext>
                  </a:extLst>
                </a:gridCol>
                <a:gridCol w="1738328">
                  <a:extLst>
                    <a:ext uri="{9D8B030D-6E8A-4147-A177-3AD203B41FA5}">
                      <a16:colId xmlns:a16="http://schemas.microsoft.com/office/drawing/2014/main" val="3795491637"/>
                    </a:ext>
                  </a:extLst>
                </a:gridCol>
                <a:gridCol w="1600926">
                  <a:extLst>
                    <a:ext uri="{9D8B030D-6E8A-4147-A177-3AD203B41FA5}">
                      <a16:colId xmlns:a16="http://schemas.microsoft.com/office/drawing/2014/main" val="1499445013"/>
                    </a:ext>
                  </a:extLst>
                </a:gridCol>
              </a:tblGrid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PPA</a:t>
                      </a:r>
                      <a:r>
                        <a:rPr lang="en-US" altLang="ko-KR" b="0" baseline="0" dirty="0" smtClean="0">
                          <a:solidFill>
                            <a:schemeClr val="tx1"/>
                          </a:solidFill>
                        </a:rPr>
                        <a:t> Metrics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합성 결과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 smtClean="0">
                          <a:solidFill>
                            <a:schemeClr val="tx1"/>
                          </a:solidFill>
                        </a:rPr>
                        <a:t>비고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990249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Performance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6,77ps(6.778ns)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Worst-Case</a:t>
                      </a:r>
                      <a:r>
                        <a:rPr lang="en-US" altLang="ko-KR" sz="1200" baseline="0" dirty="0" smtClean="0"/>
                        <a:t> </a:t>
                      </a:r>
                      <a:r>
                        <a:rPr lang="ko-KR" altLang="en-US" sz="1200" baseline="0" dirty="0" smtClean="0"/>
                        <a:t>조건 만족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81000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Area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427.158um^2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Cell</a:t>
                      </a:r>
                      <a:r>
                        <a:rPr lang="en-US" altLang="ko-KR" sz="1200" baseline="0" dirty="0" smtClean="0"/>
                        <a:t> 138</a:t>
                      </a:r>
                      <a:r>
                        <a:rPr lang="ko-KR" altLang="en-US" sz="1200" baseline="0" dirty="0" smtClean="0"/>
                        <a:t>개 최적화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37745"/>
                  </a:ext>
                </a:extLst>
              </a:tr>
              <a:tr h="3742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Power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11.65uW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Leakage:</a:t>
                      </a:r>
                      <a:r>
                        <a:rPr lang="en-US" altLang="ko-KR" sz="1200" baseline="0" dirty="0" smtClean="0"/>
                        <a:t> 7.96nW / Dynamic: 11.64uW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366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16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APR</a:t>
            </a:r>
            <a:endParaRPr lang="en-CA" sz="3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309" y="1857830"/>
            <a:ext cx="5119338" cy="181388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309" y="4534852"/>
            <a:ext cx="4243522" cy="196754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91" y="986118"/>
            <a:ext cx="6441001" cy="5748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0309" y="1364343"/>
            <a:ext cx="226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DRC: 0 Viols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850308" y="4165520"/>
            <a:ext cx="4516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Connectivity: no </a:t>
            </a:r>
            <a:r>
              <a:rPr lang="en-US" altLang="ko-KR" b="1" dirty="0" err="1" smtClean="0"/>
              <a:t>probloms</a:t>
            </a:r>
            <a:r>
              <a:rPr lang="en-US" altLang="ko-KR" b="1" dirty="0" smtClean="0"/>
              <a:t> or warnings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400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25D9A-83FA-963C-5528-60710D42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6490E-FA5B-CFC9-AA21-CF1DD4F2C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dirty="0"/>
              <a:t>자기평가</a:t>
            </a:r>
            <a:endParaRPr lang="en-CA" sz="3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6C305A-EB4A-4C0B-8687-8EC574AF9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35532"/>
              </p:ext>
            </p:extLst>
          </p:nvPr>
        </p:nvGraphicFramePr>
        <p:xfrm>
          <a:off x="838200" y="2098471"/>
          <a:ext cx="4152899" cy="2476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2452">
                  <a:extLst>
                    <a:ext uri="{9D8B030D-6E8A-4147-A177-3AD203B41FA5}">
                      <a16:colId xmlns:a16="http://schemas.microsoft.com/office/drawing/2014/main" val="1553284289"/>
                    </a:ext>
                  </a:extLst>
                </a:gridCol>
                <a:gridCol w="824869">
                  <a:extLst>
                    <a:ext uri="{9D8B030D-6E8A-4147-A177-3AD203B41FA5}">
                      <a16:colId xmlns:a16="http://schemas.microsoft.com/office/drawing/2014/main" val="1020811722"/>
                    </a:ext>
                  </a:extLst>
                </a:gridCol>
                <a:gridCol w="1205578">
                  <a:extLst>
                    <a:ext uri="{9D8B030D-6E8A-4147-A177-3AD203B41FA5}">
                      <a16:colId xmlns:a16="http://schemas.microsoft.com/office/drawing/2014/main" val="11969430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>
                          <a:effectLst/>
                        </a:rPr>
                        <a:t>수강여부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u="none" strike="noStrike">
                          <a:effectLst/>
                        </a:rPr>
                        <a:t>숙련도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</a:rPr>
                        <a:t>상</a:t>
                      </a:r>
                      <a:r>
                        <a:rPr lang="en-US" altLang="ko-KR" sz="1100" u="none" strike="noStrike">
                          <a:effectLst/>
                        </a:rPr>
                        <a:t>/</a:t>
                      </a:r>
                      <a:r>
                        <a:rPr lang="ko-KR" altLang="en-US" sz="1100" u="none" strike="noStrike">
                          <a:effectLst/>
                        </a:rPr>
                        <a:t>중</a:t>
                      </a:r>
                      <a:r>
                        <a:rPr lang="en-US" altLang="ko-KR" sz="1100" u="none" strike="noStrike">
                          <a:effectLst/>
                        </a:rPr>
                        <a:t>/</a:t>
                      </a:r>
                      <a:r>
                        <a:rPr lang="ko-KR" altLang="en-US" sz="1100" u="none" strike="noStrike">
                          <a:effectLst/>
                        </a:rPr>
                        <a:t>하</a:t>
                      </a:r>
                      <a:r>
                        <a:rPr lang="en-US" altLang="ko-KR" sz="1100" u="none" strike="noStrike">
                          <a:effectLst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6818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회로이론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3971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전자회로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03120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디지털논리회로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6933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 시스템설계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178938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신호와 시스템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5127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HDL </a:t>
                      </a:r>
                      <a:r>
                        <a:rPr lang="ko-KR" altLang="en-US" sz="1100" u="none" strike="noStrike">
                          <a:effectLst/>
                        </a:rPr>
                        <a:t>설계언어</a:t>
                      </a:r>
                      <a:r>
                        <a:rPr lang="en-US" altLang="ko-KR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Verilog/VHDL)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59351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컴퓨터구조론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75610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디지털통신공학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중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56874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VLSI </a:t>
                      </a:r>
                      <a:r>
                        <a:rPr lang="ko-KR" altLang="en-US" sz="1100" u="none" strike="noStrike" dirty="0">
                          <a:effectLst/>
                        </a:rPr>
                        <a:t>설계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06181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50867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</a:t>
                      </a:r>
                      <a:r>
                        <a:rPr lang="ko-KR" altLang="en-US" sz="1100" u="none" strike="noStrike">
                          <a:effectLst/>
                        </a:rPr>
                        <a:t>언어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10789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>
                          <a:effectLst/>
                        </a:rPr>
                        <a:t>마이크로프로세서프로그래밍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246254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978940-024D-46E9-A9AC-3341CC47A4F9}"/>
              </a:ext>
            </a:extLst>
          </p:cNvPr>
          <p:cNvSpPr txBox="1"/>
          <p:nvPr/>
        </p:nvSpPr>
        <p:spPr>
          <a:xfrm>
            <a:off x="6096000" y="2690336"/>
            <a:ext cx="50445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전공</a:t>
            </a:r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r>
              <a:rPr lang="ko-KR" altLang="en-US" dirty="0" smtClean="0"/>
              <a:t>전자공학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직무희망</a:t>
            </a:r>
            <a:r>
              <a:rPr lang="ko-KR" altLang="en-US" dirty="0" smtClean="0"/>
              <a:t> </a:t>
            </a:r>
            <a:r>
              <a:rPr lang="en-US" altLang="ko-KR" dirty="0" smtClean="0"/>
              <a:t>- PI</a:t>
            </a:r>
            <a:r>
              <a:rPr lang="en-US" altLang="ko-KR" dirty="0"/>
              <a:t>, </a:t>
            </a:r>
            <a:r>
              <a:rPr lang="en-US" altLang="ko-KR" dirty="0" smtClean="0"/>
              <a:t>PD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관심영역</a:t>
            </a:r>
            <a:r>
              <a:rPr lang="en-US" altLang="ko-KR" dirty="0"/>
              <a:t> </a:t>
            </a:r>
            <a:r>
              <a:rPr lang="en-US" altLang="ko-KR" dirty="0" smtClean="0"/>
              <a:t>-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방학 </a:t>
            </a:r>
            <a:r>
              <a:rPr lang="ko-KR" altLang="en-US" dirty="0" smtClean="0"/>
              <a:t>학습계획 </a:t>
            </a:r>
            <a:r>
              <a:rPr lang="en-US" altLang="ko-KR" dirty="0" smtClean="0"/>
              <a:t>-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Git</a:t>
            </a:r>
            <a:r>
              <a:rPr lang="en-US" dirty="0"/>
              <a:t> </a:t>
            </a:r>
            <a:r>
              <a:rPr lang="ko-KR" altLang="en-US" dirty="0" smtClean="0"/>
              <a:t>주소 </a:t>
            </a:r>
            <a:r>
              <a:rPr lang="en-US" altLang="ko-KR" dirty="0" smtClean="0"/>
              <a:t>- </a:t>
            </a:r>
            <a:r>
              <a:rPr lang="en-US" altLang="ko-KR" dirty="0"/>
              <a:t>gksaksgur18@gmail.com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437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11937</TotalTime>
  <Words>188</Words>
  <Application>Microsoft Office PowerPoint</Application>
  <PresentationFormat>와이드스크린</PresentationFormat>
  <Paragraphs>79</Paragraphs>
  <Slides>10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fkGroteskNeue</vt:lpstr>
      <vt:lpstr>나눔스퀘어 네오 Regular</vt:lpstr>
      <vt:lpstr>맑은 고딕</vt:lpstr>
      <vt:lpstr>Arial</vt:lpstr>
      <vt:lpstr>Calibri</vt:lpstr>
      <vt:lpstr>Office 테마</vt:lpstr>
      <vt:lpstr>SoC 102: Design </vt:lpstr>
      <vt:lpstr>PowerPoint 프레젠테이션</vt:lpstr>
      <vt:lpstr>Design: State Machine</vt:lpstr>
      <vt:lpstr>Design: Schematic</vt:lpstr>
      <vt:lpstr>Design: RTL Coding</vt:lpstr>
      <vt:lpstr>Testbench</vt:lpstr>
      <vt:lpstr>Design: Waveform</vt:lpstr>
      <vt:lpstr>Synthesis</vt:lpstr>
      <vt:lpstr>APR</vt:lpstr>
      <vt:lpstr>자기평가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USER</cp:lastModifiedBy>
  <cp:revision>654</cp:revision>
  <dcterms:created xsi:type="dcterms:W3CDTF">2024-09-20T05:42:48Z</dcterms:created>
  <dcterms:modified xsi:type="dcterms:W3CDTF">2026-07-09T01:46:16Z</dcterms:modified>
</cp:coreProperties>
</file>