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07" r:id="rId1"/>
  </p:sldMasterIdLst>
  <p:notesMasterIdLst>
    <p:notesMasterId r:id="rId25"/>
  </p:notesMasterIdLst>
  <p:handoutMasterIdLst>
    <p:handoutMasterId r:id="rId26"/>
  </p:handoutMasterIdLst>
  <p:sldIdLst>
    <p:sldId id="270" r:id="rId2"/>
    <p:sldId id="682" r:id="rId3"/>
    <p:sldId id="691" r:id="rId4"/>
    <p:sldId id="692" r:id="rId5"/>
    <p:sldId id="693" r:id="rId6"/>
    <p:sldId id="695" r:id="rId7"/>
    <p:sldId id="696" r:id="rId8"/>
    <p:sldId id="697" r:id="rId9"/>
    <p:sldId id="698" r:id="rId10"/>
    <p:sldId id="704" r:id="rId11"/>
    <p:sldId id="706" r:id="rId12"/>
    <p:sldId id="699" r:id="rId13"/>
    <p:sldId id="700" r:id="rId14"/>
    <p:sldId id="701" r:id="rId15"/>
    <p:sldId id="702" r:id="rId16"/>
    <p:sldId id="703" r:id="rId17"/>
    <p:sldId id="684" r:id="rId18"/>
    <p:sldId id="644" r:id="rId19"/>
    <p:sldId id="685" r:id="rId20"/>
    <p:sldId id="686" r:id="rId21"/>
    <p:sldId id="683" r:id="rId22"/>
    <p:sldId id="687" r:id="rId23"/>
    <p:sldId id="68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82"/>
            <p14:sldId id="691"/>
            <p14:sldId id="692"/>
            <p14:sldId id="693"/>
            <p14:sldId id="695"/>
            <p14:sldId id="696"/>
            <p14:sldId id="697"/>
            <p14:sldId id="698"/>
            <p14:sldId id="704"/>
            <p14:sldId id="706"/>
            <p14:sldId id="699"/>
            <p14:sldId id="700"/>
            <p14:sldId id="701"/>
            <p14:sldId id="702"/>
            <p14:sldId id="703"/>
            <p14:sldId id="684"/>
            <p14:sldId id="644"/>
            <p14:sldId id="685"/>
            <p14:sldId id="686"/>
            <p14:sldId id="683"/>
            <p14:sldId id="687"/>
            <p14:sldId id="6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0" userDrawn="1">
          <p15:clr>
            <a:srgbClr val="A4A3A4"/>
          </p15:clr>
        </p15:guide>
        <p15:guide id="2" pos="253" userDrawn="1">
          <p15:clr>
            <a:srgbClr val="A4A3A4"/>
          </p15:clr>
        </p15:guide>
        <p15:guide id="3" pos="7397" userDrawn="1">
          <p15:clr>
            <a:srgbClr val="A4A3A4"/>
          </p15:clr>
        </p15:guide>
        <p15:guide id="4" orient="horz" pos="41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60">
          <p15:clr>
            <a:srgbClr val="A4A3A4"/>
          </p15:clr>
        </p15:guide>
        <p15:guide id="2" pos="253">
          <p15:clr>
            <a:srgbClr val="A4A3A4"/>
          </p15:clr>
        </p15:guide>
        <p15:guide id="3" pos="7397">
          <p15:clr>
            <a:srgbClr val="A4A3A4"/>
          </p15:clr>
        </p15:guide>
        <p15:guide id="4" orient="horz" pos="410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520" autoAdjust="0"/>
  </p:normalViewPr>
  <p:slideViewPr>
    <p:cSldViewPr snapToGrid="0" snapToObjects="1">
      <p:cViewPr varScale="1">
        <p:scale>
          <a:sx n="86" d="100"/>
          <a:sy n="86" d="100"/>
        </p:scale>
        <p:origin x="120" y="234"/>
      </p:cViewPr>
      <p:guideLst>
        <p:guide orient="horz" pos="160"/>
        <p:guide pos="253"/>
        <p:guide pos="7397"/>
        <p:guide orient="horz" pos="41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2448" y="90"/>
      </p:cViewPr>
      <p:guideLst>
        <p:guide orient="horz" pos="160"/>
        <p:guide pos="253"/>
        <p:guide pos="7397"/>
        <p:guide orient="horz" pos="410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6" units="1/cm"/>
          <inkml:channelProperty channel="Y" name="resolution" value="40" units="1/cm"/>
        </inkml:channelProperties>
      </inkml:inkSource>
      <inkml:timestamp xml:id="ts0" timeString="2026-08-18T00:01:51.14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</inkml:brush>
  </inkml:definitions>
  <inkml:trace contextRef="#ctx0" brushRef="#br0">0 72,'0'24,"0"0,0 0,24-24,0 0,-24 24,0 0,0 0,0 0,24-24,-24 24,0 0,0 0,0 0,24-24,-24 24,0 0,0-48,0 0,0 0,0 0,24 0,-24 0,24 24,-24-24,0 0,24 24,-24-24,24 0,-24 0,24 24,0 0,-24-24,24 24,-24-24,24 24,0 0,-24-24,24 24,0 0,0 0,0 0,0 0,1 0,-25-24,24 24,0 0,0 0,0 0,0 0,0 0,0 0,-24-24,0 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6" units="1/cm"/>
          <inkml:channelProperty channel="Y" name="resolution" value="40" units="1/cm"/>
        </inkml:channelProperties>
      </inkml:inkSource>
      <inkml:timestamp xml:id="ts0" timeString="2026-08-18T00:01:51.15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</inkml:brush>
  </inkml:definitions>
  <inkml:trace contextRef="#ctx0" brushRef="#br0">0 0,'24'0,"0"0,0 0,0 0,0 0,0 0,0 0,0 0,0 0,0 21,0-21,0 0,0 0,0 21,0-21,0 0,0 0,0 0,1 0,-1 0,-24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6" units="1/cm"/>
          <inkml:channelProperty channel="Y" name="resolution" value="40" units="1/cm"/>
        </inkml:channelProperties>
      </inkml:inkSource>
      <inkml:timestamp xml:id="ts0" timeString="2026-08-18T00:01:51.15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</inkml:brush>
  </inkml:definitions>
  <inkml:trace contextRef="#ctx0" brushRef="#br0">0 0,'24'0,"-24"24,24-24,0 0,0 0,0 0,-24 24,24-24,0 0,0 0,0 0,-1 0,1 23,0-23,-24 24,48-24,-24 0,0 0,0 0,-24 24,24-24,1 0,-25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3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3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4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4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5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5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6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6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7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7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8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8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9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9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10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0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11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1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12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2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13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3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14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4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</a:pPr>
                <a:fld id="{B9320F77-B9A0-41C5-862A-B4B631284C64}" type="slidenum">
                  <a:rPr lang="en-CA"/>
                  <a:t>15</a:t>
                </a:fld>
                <a:endParaRPr lang="en-CA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16</a:t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820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295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9699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1160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4928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9474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8599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6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1030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775"/>
            <a:ext cx="10515600" cy="505650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DD61FD73-F43C-4CEC-A4BC-4F63297EBA95}" type="datetimeFigureOut">
              <a:rPr lang="en-CA" smtClean="0"/>
              <a:t>2026-08-18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2" r:id="rId1"/>
    <p:sldLayoutId id="2147484583" r:id="rId2"/>
    <p:sldLayoutId id="2147484584" r:id="rId3"/>
    <p:sldLayoutId id="2147484585" r:id="rId4"/>
    <p:sldLayoutId id="2147484586" r:id="rId5"/>
    <p:sldLayoutId id="2147484587" r:id="rId6"/>
    <p:sldLayoutId id="2147484588" r:id="rId7"/>
    <p:sldLayoutId id="2147484589" r:id="rId8"/>
    <p:sldLayoutId id="2147484590" r:id="rId9"/>
    <p:sldLayoutId id="2147484591" r:id="rId10"/>
    <p:sldLayoutId id="2147484592" r:id="rId11"/>
    <p:sldLayoutId id="2147484593" r:id="rId12"/>
    <p:sldLayoutId id="2147484594" r:id="rId13"/>
    <p:sldLayoutId id="2147484595" r:id="rId14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fImage12366495447.emf"/><Relationship Id="rId3" Type="http://schemas.openxmlformats.org/officeDocument/2006/relationships/image" Target="../media/image44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fImage25566489895.emf"/><Relationship Id="rId5" Type="http://schemas.openxmlformats.org/officeDocument/2006/relationships/customXml" Target="../ink/ink1.xml"/><Relationship Id="rId10" Type="http://schemas.openxmlformats.org/officeDocument/2006/relationships/image" Target="../media/fImage13166501726.emf"/><Relationship Id="rId4" Type="http://schemas.openxmlformats.org/officeDocument/2006/relationships/image" Target="../media/image45.png"/><Relationship Id="rId9" Type="http://schemas.openxmlformats.org/officeDocument/2006/relationships/customXml" Target="../ink/ink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6"/>
            <a:ext cx="7689344" cy="802161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SoC 102: Design</a:t>
            </a:r>
            <a:r>
              <a:rPr lang="en-US" altLang="ko-KR" dirty="0">
                <a:latin typeface="+mj-lt"/>
              </a:rPr>
              <a:t/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3917510"/>
            <a:ext cx="7689344" cy="438950"/>
          </a:xfrm>
        </p:spPr>
        <p:txBody>
          <a:bodyPr/>
          <a:lstStyle/>
          <a:p>
            <a:r>
              <a:rPr lang="ko-KR" altLang="en-US" b="1" dirty="0"/>
              <a:t>중간점검</a:t>
            </a:r>
            <a:r>
              <a:rPr lang="en-US" altLang="ko-KR" b="1" dirty="0"/>
              <a:t>: Basic Sequential Logic Circuit / Synthesis / PNR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581001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한만혁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 noGrp="1"/>
          </p:cNvSpPr>
          <p:nvPr>
            <p:ph sz="quarter" idx="11"/>
          </p:nvPr>
        </p:nvSpPr>
        <p:spPr>
          <a:xfrm>
            <a:off x="434975" y="564515"/>
            <a:ext cx="7689215" cy="5010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 lnSpcReduction="10000"/>
          </a:bodyPr>
          <a:lstStyle/>
          <a:p>
            <a:pPr marL="0" indent="0">
              <a:buFontTx/>
              <a:buNone/>
            </a:pPr>
            <a:r>
              <a:rPr lang="ko-KR" altLang="en-US"/>
              <a:t>목차</a:t>
            </a:r>
          </a:p>
        </p:txBody>
      </p:sp>
      <p:sp>
        <p:nvSpPr>
          <p:cNvPr id="4" name="Content Placeholder 2"/>
          <p:cNvSpPr txBox="1">
            <a:spLocks noGrp="1"/>
          </p:cNvSpPr>
          <p:nvPr/>
        </p:nvSpPr>
        <p:spPr>
          <a:xfrm>
            <a:off x="7378065" y="812165"/>
            <a:ext cx="7689215" cy="142049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 fontScale="25000" lnSpcReduction="20000"/>
          </a:bodyPr>
          <a:lstStyle/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맑은 고딕" charset="0"/>
                <a:ea typeface="맑은 고딕" charset="0"/>
              </a:rPr>
              <a:t>조합논리회로(COMB)</a:t>
            </a:r>
            <a:endParaRPr lang="ko-KR" altLang="en-US" sz="5600" b="1">
              <a:latin typeface="맑은 고딕" charset="0"/>
              <a:ea typeface="맑은 고딕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맑은 고딕" charset="0"/>
                <a:ea typeface="맑은 고딕" charset="0"/>
              </a:rPr>
              <a:t>	</a:t>
            </a: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• MUX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ENCODER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DECODER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 COMPARATOR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 3_STATE_BUS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ko-KR" altLang="en-US" sz="5600" b="1">
              <a:solidFill>
                <a:schemeClr val="bg1"/>
              </a:solidFill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맑은 고딕" charset="0"/>
                <a:ea typeface="맑은 고딕" charset="0"/>
              </a:rPr>
              <a:t>순서논리회로(SEQ)</a:t>
            </a:r>
            <a:endParaRPr lang="ko-KR" altLang="en-US" sz="5600" b="1">
              <a:latin typeface="맑은 고딕" charset="0"/>
              <a:ea typeface="맑은 고딕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맑은 고딕" charset="0"/>
                <a:ea typeface="맑은 고딕" charset="0"/>
              </a:rPr>
              <a:t>	</a:t>
            </a: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•  LATCH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 REGISTER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 FREQ_DIVIDER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 SHIFT_REGISTER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 REGISTER_MAP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추가학습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8-bit ALU(산술 연산기)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b="1" spc="-140">
                <a:latin typeface="Arial" charset="0"/>
                <a:ea typeface="Arial" charset="0"/>
                <a:sym typeface="Arial" charset="0"/>
              </a:rPr>
              <a:t>	• 카운터(Debounce 추가)</a:t>
            </a:r>
            <a:endParaRPr lang="ko-KR" altLang="en-US" sz="5600" b="1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4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pic>
        <p:nvPicPr>
          <p:cNvPr id="3" name="그림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0" y="1432560"/>
            <a:ext cx="2578100" cy="3458210"/>
          </a:xfrm>
          <a:prstGeom prst="rect">
            <a:avLst/>
          </a:prstGeom>
          <a:noFill/>
        </p:spPr>
      </p:pic>
      <p:sp>
        <p:nvSpPr>
          <p:cNvPr id="4" name="제목 5"/>
          <p:cNvSpPr txBox="1">
            <a:spLocks noGrp="1"/>
          </p:cNvSpPr>
          <p:nvPr/>
        </p:nvSpPr>
        <p:spPr>
          <a:xfrm>
            <a:off x="835025" y="904875"/>
            <a:ext cx="286893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MUX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sp>
        <p:nvSpPr>
          <p:cNvPr id="6" name="텍스트 상자 79"/>
          <p:cNvSpPr txBox="1">
            <a:spLocks/>
          </p:cNvSpPr>
          <p:nvPr/>
        </p:nvSpPr>
        <p:spPr>
          <a:xfrm>
            <a:off x="840105" y="5334635"/>
            <a:ext cx="5637530" cy="30861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여러개의 입력 신호 중 선택 신호(select)에 따라 </a:t>
            </a:r>
            <a:r>
              <a:rPr lang="ko-KR" sz="1400" b="1">
                <a:latin typeface="맑은 고딕" charset="0"/>
                <a:ea typeface="맑은 고딕" charset="0"/>
              </a:rPr>
              <a:t>하나의 신호</a:t>
            </a:r>
            <a:r>
              <a:rPr lang="ko-KR" sz="1400">
                <a:latin typeface="맑은 고딕" charset="0"/>
                <a:ea typeface="맑은 고딕" charset="0"/>
              </a:rPr>
              <a:t>만 출력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pic>
        <p:nvPicPr>
          <p:cNvPr id="7" name="그림 1" descr="C:/Users/user/AppData/Roaming/PolarisOffice/ETemp/19868_14363296/fImage14652407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390" y="1428750"/>
            <a:ext cx="3350895" cy="14230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pic>
        <p:nvPicPr>
          <p:cNvPr id="3" name="그림 9" descr="C:/Users/user/AppData/Roaming/PolarisOffice/ETemp/9132_12101376/fImage35600264633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70" y="1362710"/>
            <a:ext cx="4068445" cy="4676775"/>
          </a:xfrm>
          <a:prstGeom prst="rect">
            <a:avLst/>
          </a:prstGeom>
          <a:noFill/>
        </p:spPr>
      </p:pic>
      <p:pic>
        <p:nvPicPr>
          <p:cNvPr id="4" name="그림 10" descr="C:/Users/user/AppData/Roaming/PolarisOffice/ETemp/9132_12101376/fImage15647265650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255" y="1365250"/>
            <a:ext cx="4972685" cy="2305685"/>
          </a:xfrm>
          <a:prstGeom prst="rect">
            <a:avLst/>
          </a:prstGeom>
          <a:noFill/>
        </p:spPr>
      </p:pic>
      <p:sp>
        <p:nvSpPr>
          <p:cNvPr id="5" name="텍스트 상자 11"/>
          <p:cNvSpPr txBox="1">
            <a:spLocks noGrp="1"/>
          </p:cNvSpPr>
          <p:nvPr/>
        </p:nvSpPr>
        <p:spPr>
          <a:xfrm>
            <a:off x="835025" y="904875"/>
            <a:ext cx="673925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ENCODER(Interrupt_controller)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sp>
        <p:nvSpPr>
          <p:cNvPr id="7" name="텍스트 상자 82"/>
          <p:cNvSpPr txBox="1">
            <a:spLocks/>
          </p:cNvSpPr>
          <p:nvPr/>
        </p:nvSpPr>
        <p:spPr>
          <a:xfrm>
            <a:off x="5215255" y="3891280"/>
            <a:ext cx="5637530" cy="95440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sz="1400">
                <a:latin typeface="맑은 고딕" charset="0"/>
                <a:ea typeface="맑은 고딕" charset="0"/>
              </a:rPr>
              <a:t>여러개</a:t>
            </a:r>
            <a:r>
              <a:rPr lang="ko-KR" sz="1400">
                <a:latin typeface="맑은 고딕" charset="0"/>
                <a:ea typeface="맑은 고딕" charset="0"/>
              </a:rPr>
              <a:t>의 입력을 압축된 이진코드로 변환(8bit -&gt; 3bit)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-</a:t>
            </a:r>
            <a:r>
              <a:rPr sz="1400">
                <a:latin typeface="맑은 고딕" charset="0"/>
                <a:ea typeface="맑은 고딕" charset="0"/>
              </a:rPr>
              <a:t>8개</a:t>
            </a:r>
            <a:r>
              <a:rPr lang="ko-KR" sz="1400">
                <a:latin typeface="맑은 고딕" charset="0"/>
                <a:ea typeface="맑은 고딕" charset="0"/>
              </a:rPr>
              <a:t>의 개별 인터럽트 요청신호(비트 7이 가장 높은 우선순위)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-Ack: 인터럽트 신호를 처리 완료(응답/확인)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-Req: 인터럽트 발생(요청)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371284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DECODER(bcd_to_seg)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12" descr="C:/Users/user/AppData/Roaming/PolarisOffice/ETemp/9132_12101376/fImage23161282916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" y="1429385"/>
            <a:ext cx="3404235" cy="4841240"/>
          </a:xfrm>
          <a:prstGeom prst="rect">
            <a:avLst/>
          </a:prstGeom>
          <a:noFill/>
        </p:spPr>
      </p:pic>
      <p:pic>
        <p:nvPicPr>
          <p:cNvPr id="7" name="그림 13" descr="C:/Users/user/AppData/Roaming/PolarisOffice/ETemp/9132_12101376/fImage16229283572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240" y="1429385"/>
            <a:ext cx="7738745" cy="1330960"/>
          </a:xfrm>
          <a:prstGeom prst="rect">
            <a:avLst/>
          </a:prstGeom>
          <a:noFill/>
        </p:spPr>
      </p:pic>
      <p:sp>
        <p:nvSpPr>
          <p:cNvPr id="8" name="텍스트 상자 83"/>
          <p:cNvSpPr txBox="1">
            <a:spLocks/>
          </p:cNvSpPr>
          <p:nvPr/>
        </p:nvSpPr>
        <p:spPr>
          <a:xfrm>
            <a:off x="4331970" y="2955925"/>
            <a:ext cx="5637530" cy="30861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입력된 이진코드를 해석하여, 출력 라인 중 하나만 골라서 활성화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371284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COMPARATOR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14" descr="C:/Users/user/AppData/Roaming/PolarisOffice/ETemp/9132_12101376/fImage7785291147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30" y="1433195"/>
            <a:ext cx="3562985" cy="2839085"/>
          </a:xfrm>
          <a:prstGeom prst="rect">
            <a:avLst/>
          </a:prstGeom>
          <a:noFill/>
        </p:spPr>
      </p:pic>
      <p:pic>
        <p:nvPicPr>
          <p:cNvPr id="7" name="그림 15" descr="C:/Users/user/AppData/Roaming/PolarisOffice/ETemp/9132_12101376/fImage11695292935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740" y="1428115"/>
            <a:ext cx="4737735" cy="2066925"/>
          </a:xfrm>
          <a:prstGeom prst="rect">
            <a:avLst/>
          </a:prstGeom>
          <a:noFill/>
        </p:spPr>
      </p:pic>
      <p:sp>
        <p:nvSpPr>
          <p:cNvPr id="8" name="텍스트 상자 84"/>
          <p:cNvSpPr txBox="1">
            <a:spLocks/>
          </p:cNvSpPr>
          <p:nvPr/>
        </p:nvSpPr>
        <p:spPr>
          <a:xfrm>
            <a:off x="4652645" y="3683635"/>
            <a:ext cx="5637530" cy="30861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입력된 값들을 비교하여 결과를 출력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25640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3_STATE_BUS(data_bus_driver)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" y="1429385"/>
            <a:ext cx="3922395" cy="5153025"/>
          </a:xfrm>
          <a:prstGeom prst="rect">
            <a:avLst/>
          </a:prstGeom>
          <a:noFill/>
        </p:spPr>
      </p:pic>
      <p:sp>
        <p:nvSpPr>
          <p:cNvPr id="9" name="텍스트 상자 85"/>
          <p:cNvSpPr txBox="1">
            <a:spLocks/>
          </p:cNvSpPr>
          <p:nvPr/>
        </p:nvSpPr>
        <p:spPr>
          <a:xfrm>
            <a:off x="4791075" y="3345815"/>
            <a:ext cx="7402195" cy="73914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400">
                <a:latin typeface="맑은 고딕" charset="0"/>
                <a:ea typeface="맑은 고딕" charset="0"/>
              </a:rPr>
              <a:t>두 개의 입력 데이터(i_data)를 인에이블 신호(i_en)를 통해 하나의 공용 버스(o_bus_data)로 선택적으로 출력하는 회로.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400">
                <a:latin typeface="맑은 고딕" charset="0"/>
                <a:ea typeface="맑은 고딕" charset="0"/>
              </a:rPr>
              <a:t>I_en_a,b 가 둘 다 켜져 있을 땐, a가 우선순위가 더 높아서 a가 출력된다.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pic>
        <p:nvPicPr>
          <p:cNvPr id="10" name="그림 2" descr="C:/Users/user/AppData/Roaming/PolarisOffice/ETemp/19868_14363296/fImage162804088467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429385"/>
            <a:ext cx="5330825" cy="183324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3_STATE_BUS(multiplexed_bus_driver)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21" descr="C:/Users/user/AppData/Roaming/PolarisOffice/ETemp/9132_12101376/fImage1741131357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37640"/>
            <a:ext cx="4370705" cy="3670935"/>
          </a:xfrm>
          <a:prstGeom prst="rect">
            <a:avLst/>
          </a:prstGeom>
          <a:noFill/>
        </p:spPr>
      </p:pic>
      <p:pic>
        <p:nvPicPr>
          <p:cNvPr id="7" name="그림 22" descr="C:/Users/user/AppData/Roaming/PolarisOffice/ETemp/9132_12101376/fImage186583148145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655" y="1439545"/>
            <a:ext cx="5582285" cy="2983865"/>
          </a:xfrm>
          <a:prstGeom prst="rect">
            <a:avLst/>
          </a:prstGeom>
          <a:noFill/>
        </p:spPr>
      </p:pic>
      <p:sp>
        <p:nvSpPr>
          <p:cNvPr id="8" name="텍스트 상자 23"/>
          <p:cNvSpPr txBox="1">
            <a:spLocks noGrp="1"/>
          </p:cNvSpPr>
          <p:nvPr/>
        </p:nvSpPr>
        <p:spPr>
          <a:xfrm>
            <a:off x="5496560" y="462470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/>
              <a:t>이전 3_STATE_BUS에서 i_en신호 충돌 방지를 위해 xor를 이용한 충돌 방지 회로 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10" name="그림 90" descr="C:/Users/user/AppData/Roaming/PolarisOffice/ETemp/9132_12101376/fImage16621464328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735" y="1745615"/>
            <a:ext cx="5575935" cy="23628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3_STATE_BUS(bidirectional_bus_driver)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25" descr="C:/Users/user/AppData/Roaming/PolarisOffice/ETemp/9132_12101376/fImage15705325682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" y="1463040"/>
            <a:ext cx="4353560" cy="4401185"/>
          </a:xfrm>
          <a:prstGeom prst="rect">
            <a:avLst/>
          </a:prstGeom>
          <a:noFill/>
        </p:spPr>
      </p:pic>
      <p:pic>
        <p:nvPicPr>
          <p:cNvPr id="8" name="그림 28" descr="C:/Users/user/AppData/Roaming/PolarisOffice/ETemp/9132_12101376/fImage17923328996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030" y="1463040"/>
            <a:ext cx="5005070" cy="1906905"/>
          </a:xfrm>
          <a:prstGeom prst="rect">
            <a:avLst/>
          </a:prstGeom>
          <a:noFill/>
        </p:spPr>
      </p:pic>
      <p:pic>
        <p:nvPicPr>
          <p:cNvPr id="22" name="그림 120" descr="C:/Users/user/AppData/Roaming/PolarisOffice/ETemp/9132_12101376/fImage1370349449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125" y="1745615"/>
            <a:ext cx="5006975" cy="1686560"/>
          </a:xfrm>
          <a:prstGeom prst="rect">
            <a:avLst/>
          </a:prstGeom>
          <a:noFill/>
        </p:spPr>
      </p:pic>
      <p:sp>
        <p:nvSpPr>
          <p:cNvPr id="35" name="텍스트 상자 135"/>
          <p:cNvSpPr txBox="1">
            <a:spLocks noGrp="1"/>
          </p:cNvSpPr>
          <p:nvPr/>
        </p:nvSpPr>
        <p:spPr>
          <a:xfrm>
            <a:off x="5444490" y="3663315"/>
            <a:ext cx="5908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>
                <a:solidFill>
                  <a:srgbClr val="FF0000"/>
                </a:solidFill>
              </a:rPr>
              <a:t>보낼 때(i_send=1)</a:t>
            </a:r>
            <a:r>
              <a:rPr lang="ko-KR"/>
              <a:t>는 i_data_to_bus를 버스로 보내고</a:t>
            </a:r>
            <a:endParaRPr lang="ko-KR" altLang="en-US"/>
          </a:p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>
                <a:solidFill>
                  <a:srgbClr val="003A9A"/>
                </a:solidFill>
              </a:rPr>
              <a:t>받을 때(i_rcv=1)</a:t>
            </a:r>
            <a:r>
              <a:rPr lang="ko-KR"/>
              <a:t>는 버스의 데이터를 o_data_form_bus로 가져오는 코드</a:t>
            </a:r>
            <a:endParaRPr lang="ko-KR" altLang="en-US"/>
          </a:p>
        </p:txBody>
      </p:sp>
      <p:cxnSp>
        <p:nvCxnSpPr>
          <p:cNvPr id="36" name="도형 143"/>
          <p:cNvCxnSpPr/>
          <p:nvPr/>
        </p:nvCxnSpPr>
        <p:spPr>
          <a:xfrm>
            <a:off x="7801610" y="2597785"/>
            <a:ext cx="252095" cy="364490"/>
          </a:xfrm>
          <a:prstGeom prst="straightConnector1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도형 145"/>
          <p:cNvCxnSpPr/>
          <p:nvPr/>
        </p:nvCxnSpPr>
        <p:spPr>
          <a:xfrm>
            <a:off x="8981440" y="2938145"/>
            <a:ext cx="252095" cy="364490"/>
          </a:xfrm>
          <a:prstGeom prst="straightConnector1">
            <a:avLst/>
          </a:prstGeom>
          <a:ln w="6350" cap="flat" cmpd="sng">
            <a:solidFill>
              <a:srgbClr val="003A9A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3_STATE_BUS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표 49"/>
          <p:cNvGraphicFramePr>
            <a:graphicFrameLocks noGrp="1"/>
          </p:cNvGraphicFramePr>
          <p:nvPr/>
        </p:nvGraphicFramePr>
        <p:xfrm>
          <a:off x="836295" y="1521460"/>
          <a:ext cx="10264140" cy="19075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256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6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6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모듈 이름</a:t>
                      </a:r>
                      <a:endParaRPr lang="ko-KR" altLang="en-US" sz="1050" b="1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핵심 특징</a:t>
                      </a:r>
                      <a:endParaRPr lang="ko-KR" altLang="en-US" sz="1050" b="1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주요 제어 방식</a:t>
                      </a:r>
                      <a:endParaRPr lang="ko-KR" altLang="en-US" sz="1050" b="1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주요 용도</a:t>
                      </a:r>
                      <a:endParaRPr lang="ko-KR" altLang="en-US" sz="1050" b="1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data_bus_driver</a:t>
                      </a:r>
                      <a:endParaRPr lang="ko-KR" altLang="en-US" sz="1050" b="1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가장 기본적인 삼항 연산자 기반 버스 선택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i_en_a가 높으면 </a:t>
                      </a:r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우선 선택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 (우선순위 구조)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단순 멀티플렉서 형태의 버스 공유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multiplexed_bus_driver</a:t>
                      </a:r>
                      <a:endParaRPr lang="ko-KR" altLang="en-US" sz="1050" b="1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XOR 게이트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를 추가해 충돌 방지 로직 적용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둘 중 </a:t>
                      </a:r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*딱 하나만 활성화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되었을 때만 출력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충돌(Bus Contention) 방지 보호 회로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bidirectional_bus_driver</a:t>
                      </a:r>
                      <a:endParaRPr lang="ko-KR" altLang="en-US" sz="1050" b="1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b="1" kern="1200">
                          <a:latin typeface="Google Sans Text" charset="0"/>
                          <a:ea typeface="Google Sans Text" charset="0"/>
                        </a:rPr>
                        <a:t>inout양방향 포트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사용 (송신/수신 겸용)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i_send로 송신, i_rcv로 수신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I2C, 데이터 버스 등 실제 외부 양방향 통신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solidFill>
                  <a:schemeClr val="accent1">
                    <a:lumMod val="75000"/>
                    <a:lumOff val="0"/>
                  </a:schemeClr>
                </a:solidFill>
                <a:latin typeface="+mj-lt"/>
                <a:ea typeface="+mj-ea"/>
                <a:cs typeface="+mj-cs"/>
              </a:rPr>
              <a:t>COMB_LOGIC</a:t>
            </a:r>
            <a:endParaRPr lang="ko-KR" altLang="en-US" sz="3200" b="1">
              <a:solidFill>
                <a:schemeClr val="accent1">
                  <a:lumMod val="75000"/>
                  <a:lumOff val="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ALU_8BIT(산술연산기)</a:t>
            </a:r>
            <a:endParaRPr lang="ko-KR" altLang="en-US"/>
          </a:p>
        </p:txBody>
      </p:sp>
      <p:pic>
        <p:nvPicPr>
          <p:cNvPr id="9" name="그림 77" descr="C:/Users/user/AppData/Roaming/PolarisOffice/ETemp/9132_12101376/fImage133370451299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255" y="1454785"/>
            <a:ext cx="6097270" cy="1978025"/>
          </a:xfrm>
          <a:prstGeom prst="rect">
            <a:avLst/>
          </a:prstGeom>
          <a:noFill/>
        </p:spPr>
      </p:pic>
      <p:pic>
        <p:nvPicPr>
          <p:cNvPr id="10" name="그림 78" descr="C:/Users/user/AppData/Roaming/PolarisOffice/ETemp/9132_12101376/fImage281804521942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5" y="1437640"/>
            <a:ext cx="4837430" cy="5221605"/>
          </a:xfrm>
          <a:prstGeom prst="rect">
            <a:avLst/>
          </a:prstGeom>
          <a:noFill/>
        </p:spPr>
      </p:pic>
      <p:pic>
        <p:nvPicPr>
          <p:cNvPr id="11" name="그림 270" descr="C:/Users/user/AppData/Roaming/PolarisOffice/ETemp/9132_12101376/fImage384306194827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445" y="3489325"/>
            <a:ext cx="5694045" cy="24257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LATCH(D)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7" name="그림 30" descr="C:/Users/user/AppData/Roaming/PolarisOffice/ETemp/9132_12101376/fImage7061338543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35" y="1401445"/>
            <a:ext cx="2639060" cy="3220085"/>
          </a:xfrm>
          <a:prstGeom prst="rect">
            <a:avLst/>
          </a:prstGeom>
          <a:noFill/>
        </p:spPr>
      </p:pic>
      <p:pic>
        <p:nvPicPr>
          <p:cNvPr id="8" name="그림 155" descr="C:/Users/user/AppData/Roaming/PolarisOffice/ETemp/9132_12101376/fImage13304526239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1402715"/>
            <a:ext cx="6153785" cy="2286635"/>
          </a:xfrm>
          <a:prstGeom prst="rect">
            <a:avLst/>
          </a:prstGeom>
          <a:noFill/>
        </p:spPr>
      </p:pic>
      <p:sp>
        <p:nvSpPr>
          <p:cNvPr id="9" name="텍스트 상자 269"/>
          <p:cNvSpPr txBox="1">
            <a:spLocks/>
          </p:cNvSpPr>
          <p:nvPr/>
        </p:nvSpPr>
        <p:spPr>
          <a:xfrm>
            <a:off x="3740785" y="4147820"/>
            <a:ext cx="5654675" cy="37020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Level-trigger 방식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10" name="도형 271"/>
          <p:cNvCxnSpPr/>
          <p:nvPr/>
        </p:nvCxnSpPr>
        <p:spPr>
          <a:xfrm>
            <a:off x="5022215" y="2052320"/>
            <a:ext cx="442595" cy="635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도형 273"/>
          <p:cNvCxnSpPr/>
          <p:nvPr/>
        </p:nvCxnSpPr>
        <p:spPr>
          <a:xfrm>
            <a:off x="6037580" y="2046605"/>
            <a:ext cx="442595" cy="635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274"/>
          <p:cNvCxnSpPr/>
          <p:nvPr/>
        </p:nvCxnSpPr>
        <p:spPr>
          <a:xfrm>
            <a:off x="7076440" y="2046605"/>
            <a:ext cx="442595" cy="635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도형 275"/>
          <p:cNvCxnSpPr/>
          <p:nvPr/>
        </p:nvCxnSpPr>
        <p:spPr>
          <a:xfrm>
            <a:off x="8089900" y="2045970"/>
            <a:ext cx="442595" cy="635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도형 276"/>
          <p:cNvCxnSpPr/>
          <p:nvPr/>
        </p:nvCxnSpPr>
        <p:spPr>
          <a:xfrm>
            <a:off x="9111615" y="2045970"/>
            <a:ext cx="442595" cy="635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REGISTER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31" descr="C:/Users/user/AppData/Roaming/PolarisOffice/ETemp/9132_12101376/fImage29020346460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379855"/>
            <a:ext cx="3578225" cy="5227955"/>
          </a:xfrm>
          <a:prstGeom prst="rect">
            <a:avLst/>
          </a:prstGeom>
          <a:noFill/>
        </p:spPr>
      </p:pic>
      <p:pic>
        <p:nvPicPr>
          <p:cNvPr id="7" name="그림 180" descr="C:/Users/user/AppData/Roaming/PolarisOffice/ETemp/9132_12101376/fImage273475513902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505" y="1376045"/>
            <a:ext cx="6033770" cy="3014980"/>
          </a:xfrm>
          <a:prstGeom prst="rect">
            <a:avLst/>
          </a:prstGeom>
          <a:noFill/>
        </p:spPr>
      </p:pic>
      <p:cxnSp>
        <p:nvCxnSpPr>
          <p:cNvPr id="8" name="도형 238"/>
          <p:cNvCxnSpPr/>
          <p:nvPr/>
        </p:nvCxnSpPr>
        <p:spPr>
          <a:xfrm>
            <a:off x="6788785" y="3403600"/>
            <a:ext cx="243205" cy="337820"/>
          </a:xfrm>
          <a:prstGeom prst="straightConnector1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도형 239"/>
          <p:cNvCxnSpPr/>
          <p:nvPr/>
        </p:nvCxnSpPr>
        <p:spPr>
          <a:xfrm>
            <a:off x="7700645" y="3406140"/>
            <a:ext cx="243205" cy="337820"/>
          </a:xfrm>
          <a:prstGeom prst="straightConnector1">
            <a:avLst/>
          </a:prstGeom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도형 242"/>
          <p:cNvCxnSpPr/>
          <p:nvPr/>
        </p:nvCxnSpPr>
        <p:spPr>
          <a:xfrm>
            <a:off x="7698105" y="3264535"/>
            <a:ext cx="635" cy="234950"/>
          </a:xfrm>
          <a:prstGeom prst="line">
            <a:avLst/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도형 243"/>
          <p:cNvCxnSpPr/>
          <p:nvPr/>
        </p:nvCxnSpPr>
        <p:spPr>
          <a:xfrm>
            <a:off x="6799580" y="3284220"/>
            <a:ext cx="635" cy="234950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245"/>
          <p:cNvCxnSpPr/>
          <p:nvPr/>
        </p:nvCxnSpPr>
        <p:spPr>
          <a:xfrm>
            <a:off x="7694295" y="2611755"/>
            <a:ext cx="243205" cy="337820"/>
          </a:xfrm>
          <a:prstGeom prst="straightConnector1">
            <a:avLst/>
          </a:prstGeom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도형 246"/>
          <p:cNvCxnSpPr/>
          <p:nvPr/>
        </p:nvCxnSpPr>
        <p:spPr>
          <a:xfrm>
            <a:off x="7691755" y="2522220"/>
            <a:ext cx="635" cy="234950"/>
          </a:xfrm>
          <a:prstGeom prst="line">
            <a:avLst/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도형 247"/>
          <p:cNvCxnSpPr/>
          <p:nvPr/>
        </p:nvCxnSpPr>
        <p:spPr>
          <a:xfrm>
            <a:off x="6791325" y="2834640"/>
            <a:ext cx="243205" cy="337820"/>
          </a:xfrm>
          <a:prstGeom prst="straightConnector1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248"/>
          <p:cNvCxnSpPr/>
          <p:nvPr/>
        </p:nvCxnSpPr>
        <p:spPr>
          <a:xfrm>
            <a:off x="6784975" y="2706370"/>
            <a:ext cx="635" cy="234950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249"/>
          <p:cNvCxnSpPr/>
          <p:nvPr/>
        </p:nvCxnSpPr>
        <p:spPr>
          <a:xfrm>
            <a:off x="8580120" y="2821940"/>
            <a:ext cx="243205" cy="337820"/>
          </a:xfrm>
          <a:prstGeom prst="straightConnector1">
            <a:avLst/>
          </a:prstGeom>
          <a:ln w="6350" cap="flat" cmpd="sng">
            <a:solidFill>
              <a:schemeClr val="accent4">
                <a:lumMod val="75000"/>
                <a:lumOff val="0"/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도형 250"/>
          <p:cNvCxnSpPr/>
          <p:nvPr/>
        </p:nvCxnSpPr>
        <p:spPr>
          <a:xfrm>
            <a:off x="8577580" y="2732405"/>
            <a:ext cx="635" cy="234950"/>
          </a:xfrm>
          <a:prstGeom prst="line">
            <a:avLst/>
          </a:prstGeom>
          <a:ln w="6350" cap="flat" cmpd="sng">
            <a:solidFill>
              <a:schemeClr val="accent4">
                <a:lumMod val="75000"/>
                <a:lumOff val="0"/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도형 251"/>
          <p:cNvCxnSpPr/>
          <p:nvPr/>
        </p:nvCxnSpPr>
        <p:spPr>
          <a:xfrm>
            <a:off x="9489440" y="2588260"/>
            <a:ext cx="243205" cy="337820"/>
          </a:xfrm>
          <a:prstGeom prst="straightConnector1">
            <a:avLst/>
          </a:prstGeom>
          <a:ln w="6350" cap="flat" cmpd="sng">
            <a:solidFill>
              <a:srgbClr val="4D009A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252"/>
          <p:cNvCxnSpPr/>
          <p:nvPr/>
        </p:nvCxnSpPr>
        <p:spPr>
          <a:xfrm>
            <a:off x="9486900" y="2498725"/>
            <a:ext cx="635" cy="234950"/>
          </a:xfrm>
          <a:prstGeom prst="line">
            <a:avLst/>
          </a:prstGeom>
          <a:ln w="6350" cap="flat" cmpd="sng">
            <a:solidFill>
              <a:srgbClr val="4D009A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FREQ_DIVIDER(fdivider)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10" name="그림 35" descr="C:/Users/user/AppData/Roaming/PolarisOffice/ETemp/9132_12101376/fImage3170735915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421130"/>
            <a:ext cx="5007610" cy="5194935"/>
          </a:xfrm>
          <a:prstGeom prst="rect">
            <a:avLst/>
          </a:prstGeom>
          <a:noFill/>
        </p:spPr>
      </p:pic>
      <p:sp>
        <p:nvSpPr>
          <p:cNvPr id="14" name="텍스트 상자 182"/>
          <p:cNvSpPr txBox="1">
            <a:spLocks noGrp="1"/>
          </p:cNvSpPr>
          <p:nvPr/>
        </p:nvSpPr>
        <p:spPr>
          <a:xfrm>
            <a:off x="5955665" y="3594100"/>
            <a:ext cx="576961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b="0"/>
              <a:t>-</a:t>
            </a:r>
            <a:r>
              <a:rPr lang="ko-KR" b="1">
                <a:solidFill>
                  <a:srgbClr val="FF0000"/>
                </a:solidFill>
              </a:rPr>
              <a:t>r_count == 4</a:t>
            </a:r>
            <a:r>
              <a:rPr lang="ko-KR" b="0"/>
              <a:t>(</a:t>
            </a:r>
            <a:r>
              <a:rPr lang="ko-KR"/>
              <a:t>DIVISOR/2 - 1): o_clk_out을 1로 전환</a:t>
            </a:r>
            <a:endParaRPr lang="ko-KR" altLang="en-US"/>
          </a:p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ko-KR" altLang="en-US"/>
          </a:p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b="0"/>
              <a:t>-</a:t>
            </a:r>
            <a:r>
              <a:rPr lang="ko-KR" b="1">
                <a:solidFill>
                  <a:schemeClr val="accent1"/>
                </a:solidFill>
              </a:rPr>
              <a:t>r_count == 9</a:t>
            </a:r>
            <a:r>
              <a:rPr lang="ko-KR"/>
              <a:t>(DIVISOR -1): o_clk_out을 0으로 전환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15" name="그림 224" descr="C:/Users/user/AppData/Roaming/PolarisOffice/ETemp/9132_12101376/fImage33253594292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785" y="1524635"/>
            <a:ext cx="7551420" cy="1378585"/>
          </a:xfrm>
          <a:prstGeom prst="rect">
            <a:avLst/>
          </a:prstGeom>
          <a:noFill/>
        </p:spPr>
      </p:pic>
      <p:cxnSp>
        <p:nvCxnSpPr>
          <p:cNvPr id="16" name="도형 225"/>
          <p:cNvCxnSpPr/>
          <p:nvPr/>
        </p:nvCxnSpPr>
        <p:spPr>
          <a:xfrm>
            <a:off x="8053070" y="2190750"/>
            <a:ext cx="635" cy="399415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도형 227"/>
          <p:cNvCxnSpPr/>
          <p:nvPr/>
        </p:nvCxnSpPr>
        <p:spPr>
          <a:xfrm>
            <a:off x="10661650" y="2193290"/>
            <a:ext cx="635" cy="258445"/>
          </a:xfrm>
          <a:prstGeom prst="line">
            <a:avLst/>
          </a:prstGeom>
          <a:ln w="6350" cap="flat" cmpd="sng">
            <a:solidFill>
              <a:schemeClr val="accent5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도형 228"/>
          <p:cNvCxnSpPr/>
          <p:nvPr/>
        </p:nvCxnSpPr>
        <p:spPr>
          <a:xfrm rot="5400000">
            <a:off x="7052945" y="2533015"/>
            <a:ext cx="1048385" cy="953135"/>
          </a:xfrm>
          <a:prstGeom prst="curvedConnector3">
            <a:avLst>
              <a:gd name="adj1" fmla="val 50065"/>
            </a:avLst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232"/>
          <p:cNvCxnSpPr/>
          <p:nvPr/>
        </p:nvCxnSpPr>
        <p:spPr>
          <a:xfrm rot="10800000" flipV="1">
            <a:off x="7247890" y="2399030"/>
            <a:ext cx="3394710" cy="1541780"/>
          </a:xfrm>
          <a:prstGeom prst="curvedConnector3">
            <a:avLst>
              <a:gd name="adj1" fmla="val 50000"/>
            </a:avLst>
          </a:prstGeom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SHIFT_REGISTER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43" descr="C:/Users/user/AppData/Roaming/PolarisOffice/ETemp/9132_12101376/fImage16612378238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85" y="1390650"/>
            <a:ext cx="4591685" cy="5229860"/>
          </a:xfrm>
          <a:prstGeom prst="rect">
            <a:avLst/>
          </a:prstGeom>
          <a:noFill/>
        </p:spPr>
      </p:pic>
      <p:pic>
        <p:nvPicPr>
          <p:cNvPr id="7" name="그림 44" descr="C:/Users/user/AppData/Roaming/PolarisOffice/ETemp/9132_12101376/fImage24471379742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050" y="1471295"/>
            <a:ext cx="7625715" cy="1508125"/>
          </a:xfrm>
          <a:prstGeom prst="rect">
            <a:avLst/>
          </a:prstGeom>
          <a:noFill/>
        </p:spPr>
      </p:pic>
      <p:sp>
        <p:nvSpPr>
          <p:cNvPr id="8" name="텍스트 상자 45"/>
          <p:cNvSpPr txBox="1">
            <a:spLocks noGrp="1"/>
          </p:cNvSpPr>
          <p:nvPr/>
        </p:nvSpPr>
        <p:spPr>
          <a:xfrm>
            <a:off x="5614670" y="314261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0">
                <a:latin typeface="+mj-lt"/>
                <a:ea typeface="+mj-ea"/>
                <a:cs typeface="+mj-cs"/>
              </a:rPr>
              <a:t>I_serial_in이 LSB로 들어 올때마다 왼쪽으로 시프트</a:t>
            </a:r>
            <a:endParaRPr lang="ko-KR" altLang="en-US" sz="2000" b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SIMPLE_REGISTER_MAP</a:t>
            </a:r>
            <a:endParaRPr lang="ko-KR" altLang="en-US"/>
          </a:p>
        </p:txBody>
      </p:sp>
      <p:pic>
        <p:nvPicPr>
          <p:cNvPr id="6" name="그림 46" descr="C:/Users/user/AppData/Roaming/PolarisOffice/ETemp/9132_12101376/fImage12428389871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70" y="1398905"/>
            <a:ext cx="3524885" cy="4144010"/>
          </a:xfrm>
          <a:prstGeom prst="rect">
            <a:avLst/>
          </a:prstGeom>
          <a:noFill/>
        </p:spPr>
      </p:pic>
      <p:pic>
        <p:nvPicPr>
          <p:cNvPr id="9" name="그림 194" descr="C:/Users/user/AppData/Roaming/PolarisOffice/ETemp/9132_12101376/fImage36468564971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220" y="1282065"/>
            <a:ext cx="7410450" cy="2381250"/>
          </a:xfrm>
          <a:prstGeom prst="rect">
            <a:avLst/>
          </a:prstGeom>
          <a:noFill/>
        </p:spPr>
      </p:pic>
      <p:cxnSp>
        <p:nvCxnSpPr>
          <p:cNvPr id="24" name="도형 292"/>
          <p:cNvCxnSpPr/>
          <p:nvPr/>
        </p:nvCxnSpPr>
        <p:spPr>
          <a:xfrm>
            <a:off x="7247890" y="2788920"/>
            <a:ext cx="243205" cy="337820"/>
          </a:xfrm>
          <a:prstGeom prst="straightConnector1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293"/>
          <p:cNvCxnSpPr/>
          <p:nvPr/>
        </p:nvCxnSpPr>
        <p:spPr>
          <a:xfrm>
            <a:off x="7258685" y="2669540"/>
            <a:ext cx="635" cy="234950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294"/>
          <p:cNvCxnSpPr/>
          <p:nvPr/>
        </p:nvCxnSpPr>
        <p:spPr>
          <a:xfrm>
            <a:off x="8867140" y="2788920"/>
            <a:ext cx="243205" cy="337820"/>
          </a:xfrm>
          <a:prstGeom prst="straightConnector1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도형 295"/>
          <p:cNvCxnSpPr/>
          <p:nvPr/>
        </p:nvCxnSpPr>
        <p:spPr>
          <a:xfrm>
            <a:off x="8877935" y="2669540"/>
            <a:ext cx="635" cy="234950"/>
          </a:xfrm>
          <a:prstGeom prst="line">
            <a:avLst/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도형 296"/>
          <p:cNvCxnSpPr/>
          <p:nvPr/>
        </p:nvCxnSpPr>
        <p:spPr>
          <a:xfrm>
            <a:off x="10468610" y="2797175"/>
            <a:ext cx="243205" cy="337820"/>
          </a:xfrm>
          <a:prstGeom prst="straightConnector1">
            <a:avLst/>
          </a:prstGeom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도형 297"/>
          <p:cNvCxnSpPr/>
          <p:nvPr/>
        </p:nvCxnSpPr>
        <p:spPr>
          <a:xfrm>
            <a:off x="10479405" y="2677795"/>
            <a:ext cx="635" cy="234950"/>
          </a:xfrm>
          <a:prstGeom prst="line">
            <a:avLst/>
          </a:prstGeom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도형 298"/>
          <p:cNvCxnSpPr/>
          <p:nvPr/>
        </p:nvCxnSpPr>
        <p:spPr>
          <a:xfrm>
            <a:off x="11274425" y="2806065"/>
            <a:ext cx="243205" cy="337820"/>
          </a:xfrm>
          <a:prstGeom prst="straightConnector1">
            <a:avLst/>
          </a:prstGeom>
          <a:ln w="6350" cap="flat" cmpd="sng">
            <a:solidFill>
              <a:srgbClr val="E8007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도형 299"/>
          <p:cNvCxnSpPr/>
          <p:nvPr/>
        </p:nvCxnSpPr>
        <p:spPr>
          <a:xfrm>
            <a:off x="11285220" y="2686685"/>
            <a:ext cx="635" cy="234950"/>
          </a:xfrm>
          <a:prstGeom prst="line">
            <a:avLst/>
          </a:prstGeom>
          <a:ln w="6350" cap="flat" cmpd="sng">
            <a:solidFill>
              <a:srgbClr val="E8007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잉크 306"/>
              <p14:cNvContentPartPr/>
              <p14:nvPr/>
            </p14:nvContentPartPr>
            <p14:xfrm>
              <a:off x="9611360" y="2658745"/>
              <a:ext cx="225425" cy="138430"/>
            </p14:xfrm>
          </p:contentPart>
        </mc:Choice>
        <mc:Fallback xmlns="">
          <p:pic>
            <p:nvPicPr>
              <p:cNvPr id="32" name="잉크 30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11360" y="2658745"/>
                <a:ext cx="225425" cy="138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잉크 307"/>
              <p14:cNvContentPartPr/>
              <p14:nvPr/>
            </p14:nvContentPartPr>
            <p14:xfrm>
              <a:off x="9577070" y="2710815"/>
              <a:ext cx="173355" cy="17145"/>
            </p14:xfrm>
          </p:contentPart>
        </mc:Choice>
        <mc:Fallback xmlns="">
          <p:pic>
            <p:nvPicPr>
              <p:cNvPr id="33" name="잉크 30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77070" y="2710815"/>
                <a:ext cx="173355" cy="17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잉크 308"/>
              <p14:cNvContentPartPr/>
              <p14:nvPr/>
            </p14:nvContentPartPr>
            <p14:xfrm>
              <a:off x="9568180" y="2727960"/>
              <a:ext cx="164465" cy="43180"/>
            </p14:xfrm>
          </p:contentPart>
        </mc:Choice>
        <mc:Fallback xmlns="">
          <p:pic>
            <p:nvPicPr>
              <p:cNvPr id="34" name="잉크 30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68180" y="2727960"/>
                <a:ext cx="164465" cy="431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/>
          <p:cNvSpPr txBox="1"/>
          <p:nvPr/>
        </p:nvSpPr>
        <p:spPr>
          <a:xfrm>
            <a:off x="4577899" y="3835987"/>
            <a:ext cx="6563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Google Sans Text" charset="0"/>
                <a:ea typeface="Google Sans Text" charset="0"/>
              </a:rPr>
              <a:t>wen = 1</a:t>
            </a:r>
            <a:r>
              <a:rPr lang="ko-KR" altLang="en-US" sz="1200" dirty="0">
                <a:latin typeface="Google Sans Text" charset="0"/>
                <a:ea typeface="Google Sans Text" charset="0"/>
              </a:rPr>
              <a:t>일 때만 데이터를 저장하고</a:t>
            </a:r>
            <a:r>
              <a:rPr lang="en-US" altLang="ko-KR" sz="1200" dirty="0">
                <a:latin typeface="Google Sans Text" charset="0"/>
                <a:ea typeface="Google Sans Text" charset="0"/>
              </a:rPr>
              <a:t>, </a:t>
            </a:r>
            <a:r>
              <a:rPr lang="en-US" altLang="ko-KR" sz="1200" b="1" dirty="0">
                <a:latin typeface="Google Sans Text" charset="0"/>
                <a:ea typeface="Google Sans Text" charset="0"/>
              </a:rPr>
              <a:t>wen = 0</a:t>
            </a:r>
            <a:r>
              <a:rPr lang="ko-KR" altLang="en-US" sz="1200" b="1" dirty="0">
                <a:latin typeface="Google Sans Text" charset="0"/>
                <a:ea typeface="Google Sans Text" charset="0"/>
              </a:rPr>
              <a:t>이면 이전 값 유지</a:t>
            </a:r>
            <a:endParaRPr lang="ko-KR" altLang="en-US" sz="1200" b="1" dirty="0">
              <a:latin typeface="Google Sans Text" charset="0"/>
              <a:ea typeface="Google Sans Text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/>
              <a:t>SEQ_LOGIC</a:t>
            </a:r>
            <a:endParaRPr lang="ko-KR" altLang="en-US" sz="3200"/>
          </a:p>
        </p:txBody>
      </p:sp>
      <p:sp>
        <p:nvSpPr>
          <p:cNvPr id="4" name="순서도: 연결자 3"/>
          <p:cNvSpPr/>
          <p:nvPr/>
        </p:nvSpPr>
        <p:spPr>
          <a:xfrm>
            <a:off x="1750695" y="3134995"/>
            <a:ext cx="1382395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99615" y="3637915"/>
            <a:ext cx="94043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IDLE</a:t>
            </a:r>
            <a:endParaRPr lang="ko-KR" altLang="en-US" dirty="0"/>
          </a:p>
        </p:txBody>
      </p:sp>
      <p:sp>
        <p:nvSpPr>
          <p:cNvPr id="7" name="순서도: 연결자 6"/>
          <p:cNvSpPr/>
          <p:nvPr/>
        </p:nvSpPr>
        <p:spPr>
          <a:xfrm>
            <a:off x="5090160" y="3134995"/>
            <a:ext cx="1382395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292725" y="3618230"/>
            <a:ext cx="94043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RUN</a:t>
            </a:r>
            <a:endParaRPr lang="ko-KR" altLang="en-US" dirty="0"/>
          </a:p>
        </p:txBody>
      </p:sp>
      <p:sp>
        <p:nvSpPr>
          <p:cNvPr id="9" name="순서도: 연결자 8"/>
          <p:cNvSpPr/>
          <p:nvPr/>
        </p:nvSpPr>
        <p:spPr>
          <a:xfrm>
            <a:off x="8429625" y="3134995"/>
            <a:ext cx="1382395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669655" y="3618230"/>
            <a:ext cx="94043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STOP</a:t>
            </a:r>
            <a:endParaRPr lang="ko-KR" altLang="en-US" dirty="0"/>
          </a:p>
        </p:txBody>
      </p:sp>
      <p:cxnSp>
        <p:nvCxnSpPr>
          <p:cNvPr id="12" name="구부러진 연결선 11"/>
          <p:cNvCxnSpPr>
            <a:stCxn id="14" idx="2"/>
            <a:endCxn id="4" idx="2"/>
          </p:cNvCxnSpPr>
          <p:nvPr/>
        </p:nvCxnSpPr>
        <p:spPr>
          <a:xfrm rot="16200000" flipH="1">
            <a:off x="748665" y="2819400"/>
            <a:ext cx="1297940" cy="7054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730" y="2153285"/>
            <a:ext cx="82296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</a:t>
            </a:r>
            <a:r>
              <a:rPr lang="en-US" altLang="ko-KR" dirty="0" err="1" smtClean="0"/>
              <a:t>st_n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4" idx="6"/>
            <a:endCxn id="7" idx="2"/>
          </p:cNvCxnSpPr>
          <p:nvPr/>
        </p:nvCxnSpPr>
        <p:spPr>
          <a:xfrm>
            <a:off x="3133090" y="3820795"/>
            <a:ext cx="1957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7" idx="6"/>
            <a:endCxn id="9" idx="2"/>
          </p:cNvCxnSpPr>
          <p:nvPr/>
        </p:nvCxnSpPr>
        <p:spPr>
          <a:xfrm>
            <a:off x="6472555" y="3820795"/>
            <a:ext cx="1957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4070" y="3477895"/>
            <a:ext cx="1515110" cy="64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 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795135" y="3497580"/>
            <a:ext cx="1515110" cy="64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 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cxnSp>
        <p:nvCxnSpPr>
          <p:cNvPr id="90" name="직선 화살표 연결선 89"/>
          <p:cNvCxnSpPr>
            <a:stCxn id="9" idx="2"/>
            <a:endCxn id="7" idx="6"/>
          </p:cNvCxnSpPr>
          <p:nvPr/>
        </p:nvCxnSpPr>
        <p:spPr>
          <a:xfrm flipH="1">
            <a:off x="6472555" y="3820795"/>
            <a:ext cx="1957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텍스트 상자 53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ADDER_100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59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64"/>
          <p:cNvSpPr txBox="1">
            <a:spLocks noGrp="1"/>
          </p:cNvSpPr>
          <p:nvPr/>
        </p:nvSpPr>
        <p:spPr>
          <a:xfrm>
            <a:off x="909955" y="436880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7" name="텍스트 상자 65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RTL CODE</a:t>
            </a:r>
            <a:endParaRPr lang="ko-KR" altLang="en-US"/>
          </a:p>
        </p:txBody>
      </p:sp>
      <p:pic>
        <p:nvPicPr>
          <p:cNvPr id="8" name="그림 27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45" y="1689100"/>
            <a:ext cx="3670935" cy="1574165"/>
          </a:xfrm>
          <a:prstGeom prst="rect">
            <a:avLst/>
          </a:prstGeom>
          <a:noFill/>
        </p:spPr>
      </p:pic>
      <p:pic>
        <p:nvPicPr>
          <p:cNvPr id="9" name="그림 278" descr="C:/Users/user/AppData/Roaming/PolarisOffice/ETemp/22280_17866776/fImage331356261538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1525" y="508000"/>
            <a:ext cx="3507740" cy="2755265"/>
          </a:xfrm>
          <a:prstGeom prst="rect">
            <a:avLst/>
          </a:prstGeom>
          <a:noFill/>
        </p:spPr>
      </p:pic>
      <p:sp>
        <p:nvSpPr>
          <p:cNvPr id="10" name="텍스트 상자 279"/>
          <p:cNvSpPr txBox="1">
            <a:spLocks/>
          </p:cNvSpPr>
          <p:nvPr/>
        </p:nvSpPr>
        <p:spPr>
          <a:xfrm>
            <a:off x="698500" y="1445260"/>
            <a:ext cx="1373505" cy="2470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Always_0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11" name="텍스트 상자 281"/>
          <p:cNvSpPr txBox="1">
            <a:spLocks/>
          </p:cNvSpPr>
          <p:nvPr/>
        </p:nvSpPr>
        <p:spPr>
          <a:xfrm>
            <a:off x="4580255" y="270510"/>
            <a:ext cx="1373505" cy="2470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Always_1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pic>
        <p:nvPicPr>
          <p:cNvPr id="12" name="그림 28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497840"/>
            <a:ext cx="3804920" cy="1572260"/>
          </a:xfrm>
          <a:prstGeom prst="rect">
            <a:avLst/>
          </a:prstGeom>
          <a:noFill/>
        </p:spPr>
      </p:pic>
      <p:sp>
        <p:nvSpPr>
          <p:cNvPr id="13" name="텍스트 상자 284"/>
          <p:cNvSpPr txBox="1">
            <a:spLocks/>
          </p:cNvSpPr>
          <p:nvPr/>
        </p:nvSpPr>
        <p:spPr>
          <a:xfrm>
            <a:off x="8249920" y="268605"/>
            <a:ext cx="1373505" cy="2470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FlipFlop_0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15" name="텍스트 상자 286"/>
          <p:cNvSpPr txBox="1">
            <a:spLocks/>
          </p:cNvSpPr>
          <p:nvPr/>
        </p:nvSpPr>
        <p:spPr>
          <a:xfrm>
            <a:off x="2808605" y="4700905"/>
            <a:ext cx="1373505" cy="2470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sz="1000" b="1">
                <a:latin typeface="맑은 고딕" charset="0"/>
                <a:ea typeface="맑은 고딕" charset="0"/>
              </a:rPr>
              <a:t>Always_2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pic>
        <p:nvPicPr>
          <p:cNvPr id="16" name="그림 28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640" y="3989705"/>
            <a:ext cx="2789555" cy="2379980"/>
          </a:xfrm>
          <a:prstGeom prst="rect">
            <a:avLst/>
          </a:prstGeom>
          <a:noFill/>
        </p:spPr>
      </p:pic>
      <p:sp>
        <p:nvSpPr>
          <p:cNvPr id="17" name="텍스트 상자 288"/>
          <p:cNvSpPr txBox="1">
            <a:spLocks/>
          </p:cNvSpPr>
          <p:nvPr/>
        </p:nvSpPr>
        <p:spPr>
          <a:xfrm>
            <a:off x="5631815" y="3744595"/>
            <a:ext cx="1373505" cy="2470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Always_3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pic>
        <p:nvPicPr>
          <p:cNvPr id="18" name="그림 28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510" y="2987040"/>
            <a:ext cx="2755265" cy="3389630"/>
          </a:xfrm>
          <a:prstGeom prst="rect">
            <a:avLst/>
          </a:prstGeom>
          <a:noFill/>
        </p:spPr>
      </p:pic>
      <p:pic>
        <p:nvPicPr>
          <p:cNvPr id="19" name="그림 29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175" y="4945380"/>
            <a:ext cx="2551430" cy="1427480"/>
          </a:xfrm>
          <a:prstGeom prst="rect">
            <a:avLst/>
          </a:prstGeom>
          <a:noFill/>
        </p:spPr>
      </p:pic>
      <p:sp>
        <p:nvSpPr>
          <p:cNvPr id="20" name="텍스트 상자 291"/>
          <p:cNvSpPr txBox="1">
            <a:spLocks/>
          </p:cNvSpPr>
          <p:nvPr/>
        </p:nvSpPr>
        <p:spPr>
          <a:xfrm>
            <a:off x="8776970" y="2785745"/>
            <a:ext cx="1373505" cy="2470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Always_4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1"/>
          <p:cNvSpPr txBox="1">
            <a:spLocks/>
          </p:cNvSpPr>
          <p:nvPr/>
        </p:nvSpPr>
        <p:spPr>
          <a:xfrm>
            <a:off x="1347470" y="3263900"/>
            <a:ext cx="2515235" cy="2470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000">
                <a:latin typeface="맑은 고딕" charset="0"/>
                <a:ea typeface="맑은 고딕" charset="0"/>
              </a:rPr>
              <a:t>double f/f -&gt; Metastability방지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22" name="텍스트 상자 2"/>
          <p:cNvSpPr txBox="1">
            <a:spLocks/>
          </p:cNvSpPr>
          <p:nvPr/>
        </p:nvSpPr>
        <p:spPr>
          <a:xfrm>
            <a:off x="4830445" y="3260725"/>
            <a:ext cx="3262630" cy="27813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200">
                <a:latin typeface="맑은 고딕" charset="0"/>
                <a:ea typeface="맑은 고딕" charset="0"/>
              </a:rPr>
              <a:t>DEBOUNCE_LIMIT=2(20ns) -&gt;Noise filter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23" name="텍스트 상자 3"/>
          <p:cNvSpPr txBox="1">
            <a:spLocks/>
          </p:cNvSpPr>
          <p:nvPr/>
        </p:nvSpPr>
        <p:spPr>
          <a:xfrm>
            <a:off x="8923655" y="2070100"/>
            <a:ext cx="3262630" cy="401392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000" b="0" dirty="0" err="1">
                <a:latin typeface="맑은 고딕" charset="0"/>
                <a:ea typeface="맑은 고딕" charset="0"/>
              </a:rPr>
              <a:t>Debounce</a:t>
            </a:r>
            <a:r>
              <a:rPr lang="ko-KR" sz="1000" b="0" dirty="0">
                <a:latin typeface="맑은 고딕" charset="0"/>
                <a:ea typeface="맑은 고딕" charset="0"/>
              </a:rPr>
              <a:t> </a:t>
            </a:r>
            <a:r>
              <a:rPr lang="ko-KR" sz="1000" b="0" dirty="0" err="1" smtClean="0">
                <a:latin typeface="맑은 고딕" charset="0"/>
                <a:ea typeface="맑은 고딕" charset="0"/>
              </a:rPr>
              <a:t>pulse</a:t>
            </a:r>
            <a:r>
              <a:rPr lang="en-US" altLang="ko-KR" sz="1000" dirty="0" smtClean="0">
                <a:latin typeface="맑은 고딕" charset="0"/>
                <a:ea typeface="맑은 고딕" charset="0"/>
              </a:rPr>
              <a:t>(</a:t>
            </a:r>
            <a:r>
              <a:rPr lang="en-US" altLang="ko-KR" sz="1000" dirty="0" err="1" smtClean="0">
                <a:latin typeface="맑은 고딕" charset="0"/>
                <a:ea typeface="맑은 고딕" charset="0"/>
              </a:rPr>
              <a:t>prev</a:t>
            </a:r>
            <a:r>
              <a:rPr lang="en-US" altLang="ko-KR" sz="1000" b="0" dirty="0" smtClean="0">
                <a:latin typeface="맑은 고딕" charset="0"/>
                <a:ea typeface="맑은 고딕" charset="0"/>
              </a:rPr>
              <a:t>)</a:t>
            </a:r>
            <a:r>
              <a:rPr lang="ko-KR" sz="1000" b="0" dirty="0" smtClean="0">
                <a:latin typeface="맑은 고딕" charset="0"/>
                <a:ea typeface="맑은 고딕" charset="0"/>
              </a:rPr>
              <a:t> </a:t>
            </a:r>
            <a:r>
              <a:rPr lang="ko-KR" sz="1000" b="0" dirty="0">
                <a:latin typeface="맑은 고딕" charset="0"/>
                <a:ea typeface="맑은 고딕" charset="0"/>
              </a:rPr>
              <a:t>-&gt; 1 </a:t>
            </a:r>
            <a:r>
              <a:rPr lang="ko-KR" sz="1000" b="0" dirty="0" err="1">
                <a:latin typeface="맑은 고딕" charset="0"/>
                <a:ea typeface="맑은 고딕" charset="0"/>
              </a:rPr>
              <a:t>clk</a:t>
            </a:r>
            <a:r>
              <a:rPr lang="ko-KR" sz="1000" b="0" dirty="0">
                <a:latin typeface="맑은 고딕" charset="0"/>
                <a:ea typeface="맑은 고딕" charset="0"/>
              </a:rPr>
              <a:t> </a:t>
            </a:r>
            <a:r>
              <a:rPr lang="ko-KR" sz="1000" b="0" dirty="0" err="1" smtClean="0">
                <a:latin typeface="맑은 고딕" charset="0"/>
                <a:ea typeface="맑은 고딕" charset="0"/>
              </a:rPr>
              <a:t>pulse</a:t>
            </a:r>
            <a:endParaRPr lang="en-US" altLang="ko-KR" sz="1000" b="0" dirty="0" smtClean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en-US" altLang="ko-KR" sz="1000" dirty="0" smtClean="0">
                <a:latin typeface="맑은 고딕" charset="0"/>
                <a:ea typeface="맑은 고딕" charset="0"/>
              </a:rPr>
              <a:t>(+ </a:t>
            </a:r>
            <a:r>
              <a:rPr lang="ko-KR" altLang="en-US" sz="1000" dirty="0" smtClean="0">
                <a:latin typeface="맑은 고딕" charset="0"/>
                <a:ea typeface="맑은 고딕" charset="0"/>
              </a:rPr>
              <a:t>이전 </a:t>
            </a:r>
            <a:r>
              <a:rPr lang="ko-KR" altLang="en-US" sz="1000" dirty="0" err="1" smtClean="0">
                <a:latin typeface="맑은 고딕" charset="0"/>
                <a:ea typeface="맑은 고딕" charset="0"/>
              </a:rPr>
              <a:t>입력값과</a:t>
            </a:r>
            <a:r>
              <a:rPr lang="ko-KR" altLang="en-US" sz="1000" dirty="0" smtClean="0">
                <a:latin typeface="맑은 고딕" charset="0"/>
                <a:ea typeface="맑은 고딕" charset="0"/>
              </a:rPr>
              <a:t> </a:t>
            </a:r>
            <a:r>
              <a:rPr lang="ko-KR" altLang="en-US" sz="1000" dirty="0" err="1" smtClean="0">
                <a:latin typeface="맑은 고딕" charset="0"/>
                <a:ea typeface="맑은 고딕" charset="0"/>
              </a:rPr>
              <a:t>현재값을</a:t>
            </a:r>
            <a:r>
              <a:rPr lang="ko-KR" altLang="en-US" sz="1000" dirty="0" smtClean="0">
                <a:latin typeface="맑은 고딕" charset="0"/>
                <a:ea typeface="맑은 고딕" charset="0"/>
              </a:rPr>
              <a:t> 비교하여 출력</a:t>
            </a:r>
            <a:r>
              <a:rPr lang="en-US" altLang="ko-KR" sz="1000" dirty="0" smtClean="0">
                <a:latin typeface="맑은 고딕" charset="0"/>
                <a:ea typeface="맑은 고딕" charset="0"/>
              </a:rPr>
              <a:t>)</a:t>
            </a:r>
            <a:endParaRPr lang="ko-KR" altLang="en-US" sz="1000" b="0" dirty="0">
              <a:latin typeface="맑은 고딕" charset="0"/>
              <a:ea typeface="맑은 고딕" charset="0"/>
            </a:endParaRPr>
          </a:p>
        </p:txBody>
      </p:sp>
      <p:cxnSp>
        <p:nvCxnSpPr>
          <p:cNvPr id="24" name="도형 4"/>
          <p:cNvCxnSpPr/>
          <p:nvPr/>
        </p:nvCxnSpPr>
        <p:spPr>
          <a:xfrm>
            <a:off x="4430395" y="2332355"/>
            <a:ext cx="142875" cy="635"/>
          </a:xfrm>
          <a:prstGeom prst="straightConnector1">
            <a:avLst/>
          </a:prstGeom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5"/>
          <p:cNvCxnSpPr/>
          <p:nvPr/>
        </p:nvCxnSpPr>
        <p:spPr>
          <a:xfrm>
            <a:off x="8113395" y="1568450"/>
            <a:ext cx="142875" cy="635"/>
          </a:xfrm>
          <a:prstGeom prst="straightConnector1">
            <a:avLst/>
          </a:prstGeom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8"/>
          <p:cNvSpPr txBox="1">
            <a:spLocks noGrp="1"/>
          </p:cNvSpPr>
          <p:nvPr>
            <p:ph type="title" idx="1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텍스트 상자 59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SCHEMATIC</a:t>
            </a:r>
            <a:endParaRPr lang="ko-KR" altLang="en-US"/>
          </a:p>
        </p:txBody>
      </p:sp>
      <p:pic>
        <p:nvPicPr>
          <p:cNvPr id="7" name="그림 71" descr="C:/Users/user/AppData/Roaming/PolarisOffice/ETemp/9132_12101376/fImage80420445703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0" y="1419860"/>
            <a:ext cx="9899650" cy="1758950"/>
          </a:xfrm>
          <a:prstGeom prst="rect">
            <a:avLst/>
          </a:prstGeom>
          <a:noFill/>
        </p:spPr>
      </p:pic>
      <p:pic>
        <p:nvPicPr>
          <p:cNvPr id="8" name="그림 73" descr="C:/Users/user/AppData/Roaming/PolarisOffice/ETemp/9132_12101376/fImage104596447989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" y="3307715"/>
            <a:ext cx="6451600" cy="2001520"/>
          </a:xfrm>
          <a:prstGeom prst="rect">
            <a:avLst/>
          </a:prstGeom>
          <a:noFill/>
        </p:spPr>
      </p:pic>
      <p:pic>
        <p:nvPicPr>
          <p:cNvPr id="9" name="그림 74" descr="C:/Users/user/AppData/Roaming/PolarisOffice/ETemp/9132_12101376/fImage606184488703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245" y="3247390"/>
            <a:ext cx="5394960" cy="2122170"/>
          </a:xfrm>
          <a:prstGeom prst="rect">
            <a:avLst/>
          </a:prstGeom>
          <a:noFill/>
        </p:spPr>
      </p:pic>
      <p:sp>
        <p:nvSpPr>
          <p:cNvPr id="10" name="텍스트 상자 75"/>
          <p:cNvSpPr txBox="1">
            <a:spLocks/>
          </p:cNvSpPr>
          <p:nvPr/>
        </p:nvSpPr>
        <p:spPr>
          <a:xfrm>
            <a:off x="469265" y="5591175"/>
            <a:ext cx="11680190" cy="64770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200" dirty="0">
                <a:latin typeface="맑은 고딕" charset="0"/>
                <a:ea typeface="맑은 고딕" charset="0"/>
              </a:rPr>
              <a:t>Always_0: 2개의 </a:t>
            </a:r>
            <a:r>
              <a:rPr lang="ko-KR" sz="1200" dirty="0" err="1">
                <a:latin typeface="맑은 고딕" charset="0"/>
                <a:ea typeface="맑은 고딕" charset="0"/>
              </a:rPr>
              <a:t>f</a:t>
            </a:r>
            <a:r>
              <a:rPr lang="ko-KR" sz="1200" dirty="0">
                <a:latin typeface="맑은 고딕" charset="0"/>
                <a:ea typeface="맑은 고딕" charset="0"/>
              </a:rPr>
              <a:t>/</a:t>
            </a:r>
            <a:r>
              <a:rPr lang="ko-KR" sz="1200" dirty="0" err="1">
                <a:latin typeface="맑은 고딕" charset="0"/>
                <a:ea typeface="맑은 고딕" charset="0"/>
              </a:rPr>
              <a:t>f을</a:t>
            </a:r>
            <a:r>
              <a:rPr lang="ko-KR" sz="1200" dirty="0">
                <a:latin typeface="맑은 고딕" charset="0"/>
                <a:ea typeface="맑은 고딕" charset="0"/>
              </a:rPr>
              <a:t> 사용하여 불안정한 </a:t>
            </a:r>
            <a:r>
              <a:rPr lang="ko-KR" sz="1200" dirty="0" err="1">
                <a:latin typeface="맑은 고딕" charset="0"/>
                <a:ea typeface="맑은 고딕" charset="0"/>
              </a:rPr>
              <a:t>비동기신호</a:t>
            </a:r>
            <a:r>
              <a:rPr lang="ko-KR" sz="1200" dirty="0">
                <a:latin typeface="맑은 고딕" charset="0"/>
                <a:ea typeface="맑은 고딕" charset="0"/>
              </a:rPr>
              <a:t>(</a:t>
            </a:r>
            <a:r>
              <a:rPr lang="ko-KR" sz="1200" dirty="0" err="1">
                <a:latin typeface="맑은 고딕" charset="0"/>
                <a:ea typeface="맑은 고딕" charset="0"/>
              </a:rPr>
              <a:t>Metastability</a:t>
            </a:r>
            <a:r>
              <a:rPr lang="ko-KR" sz="1200" dirty="0">
                <a:latin typeface="맑은 고딕" charset="0"/>
                <a:ea typeface="맑은 고딕" charset="0"/>
              </a:rPr>
              <a:t>)</a:t>
            </a:r>
            <a:r>
              <a:rPr lang="ko-KR" sz="1200" dirty="0" err="1">
                <a:latin typeface="맑은 고딕" charset="0"/>
                <a:ea typeface="맑은 고딕" charset="0"/>
              </a:rPr>
              <a:t>를</a:t>
            </a:r>
            <a:r>
              <a:rPr lang="ko-KR" sz="1200" dirty="0">
                <a:latin typeface="맑은 고딕" charset="0"/>
                <a:ea typeface="맑은 고딕" charset="0"/>
              </a:rPr>
              <a:t> 안정화 된 신호로 변환 -&gt; 0 </a:t>
            </a:r>
            <a:r>
              <a:rPr lang="ko-KR" sz="1200" dirty="0" err="1">
                <a:latin typeface="맑은 고딕" charset="0"/>
                <a:ea typeface="맑은 고딕" charset="0"/>
              </a:rPr>
              <a:t>or</a:t>
            </a:r>
            <a:r>
              <a:rPr lang="ko-KR" sz="1200" dirty="0">
                <a:latin typeface="맑은 고딕" charset="0"/>
                <a:ea typeface="맑은 고딕" charset="0"/>
              </a:rPr>
              <a:t> 1</a:t>
            </a:r>
            <a:endParaRPr lang="ko-KR" altLang="en-US" sz="1200" dirty="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200" dirty="0">
                <a:latin typeface="맑은 고딕" charset="0"/>
                <a:ea typeface="맑은 고딕" charset="0"/>
              </a:rPr>
              <a:t>Always_1: DEBOUNCE_LIMIT=2(</a:t>
            </a:r>
            <a:r>
              <a:rPr lang="ko-KR" sz="1200" dirty="0" err="1">
                <a:latin typeface="맑은 고딕" charset="0"/>
                <a:ea typeface="맑은 고딕" charset="0"/>
              </a:rPr>
              <a:t>clk이</a:t>
            </a:r>
            <a:r>
              <a:rPr lang="ko-KR" sz="1200" dirty="0">
                <a:latin typeface="맑은 고딕" charset="0"/>
                <a:ea typeface="맑은 고딕" charset="0"/>
              </a:rPr>
              <a:t> 2번 반복되는 동안 </a:t>
            </a:r>
            <a:r>
              <a:rPr lang="ko-KR" sz="1200" dirty="0" err="1">
                <a:latin typeface="맑은 고딕" charset="0"/>
                <a:ea typeface="맑은 고딕" charset="0"/>
              </a:rPr>
              <a:t>버튼입력</a:t>
            </a:r>
            <a:r>
              <a:rPr lang="ko-KR" sz="1200" dirty="0">
                <a:latin typeface="맑은 고딕" charset="0"/>
                <a:ea typeface="맑은 고딕" charset="0"/>
              </a:rPr>
              <a:t> 유지)</a:t>
            </a:r>
            <a:r>
              <a:rPr lang="ko-KR" sz="1200" dirty="0" err="1">
                <a:latin typeface="맑은 고딕" charset="0"/>
                <a:ea typeface="맑은 고딕" charset="0"/>
              </a:rPr>
              <a:t>를</a:t>
            </a:r>
            <a:r>
              <a:rPr lang="ko-KR" sz="1200" dirty="0">
                <a:latin typeface="맑은 고딕" charset="0"/>
                <a:ea typeface="맑은 고딕" charset="0"/>
              </a:rPr>
              <a:t> 바탕으로 노이즈 </a:t>
            </a:r>
            <a:r>
              <a:rPr lang="ko-KR" sz="1200" dirty="0" err="1">
                <a:latin typeface="맑은 고딕" charset="0"/>
                <a:ea typeface="맑은 고딕" charset="0"/>
              </a:rPr>
              <a:t>필더링</a:t>
            </a:r>
            <a:r>
              <a:rPr lang="ko-KR" sz="1200" dirty="0">
                <a:latin typeface="맑은 고딕" charset="0"/>
                <a:ea typeface="맑은 고딕" charset="0"/>
              </a:rPr>
              <a:t> -&gt; 20ns 이상 눌러야 통과</a:t>
            </a:r>
            <a:endParaRPr lang="ko-KR" altLang="en-US" sz="1200" dirty="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200" dirty="0" err="1">
                <a:latin typeface="맑은 고딕" charset="0"/>
                <a:ea typeface="맑은 고딕" charset="0"/>
              </a:rPr>
              <a:t>F</a:t>
            </a:r>
            <a:r>
              <a:rPr lang="ko-KR" sz="1200" dirty="0">
                <a:latin typeface="맑은 고딕" charset="0"/>
                <a:ea typeface="맑은 고딕" charset="0"/>
              </a:rPr>
              <a:t>/F_0: </a:t>
            </a:r>
            <a:r>
              <a:rPr lang="ko-KR" sz="1200" dirty="0" err="1">
                <a:latin typeface="맑은 고딕" charset="0"/>
                <a:ea typeface="맑은 고딕" charset="0"/>
              </a:rPr>
              <a:t>Debounce가</a:t>
            </a:r>
            <a:r>
              <a:rPr lang="ko-KR" sz="1200" dirty="0">
                <a:latin typeface="맑은 고딕" charset="0"/>
                <a:ea typeface="맑은 고딕" charset="0"/>
              </a:rPr>
              <a:t> 끝난 신호를 </a:t>
            </a:r>
            <a:r>
              <a:rPr lang="ko-KR" sz="1200" dirty="0" err="1">
                <a:latin typeface="맑은 고딕" charset="0"/>
                <a:ea typeface="맑은 고딕" charset="0"/>
              </a:rPr>
              <a:t>이전상태와</a:t>
            </a:r>
            <a:r>
              <a:rPr lang="ko-KR" sz="1200" dirty="0">
                <a:latin typeface="맑은 고딕" charset="0"/>
                <a:ea typeface="맑은 고딕" charset="0"/>
              </a:rPr>
              <a:t> 비교하여 1clk 펄스를 만듦 -&gt; </a:t>
            </a:r>
            <a:r>
              <a:rPr lang="ko-KR" sz="1200" dirty="0" err="1">
                <a:latin typeface="맑은 고딕" charset="0"/>
                <a:ea typeface="맑은 고딕" charset="0"/>
              </a:rPr>
              <a:t>counter에</a:t>
            </a:r>
            <a:r>
              <a:rPr lang="ko-KR" sz="1200" dirty="0">
                <a:latin typeface="맑은 고딕" charset="0"/>
                <a:ea typeface="맑은 고딕" charset="0"/>
              </a:rPr>
              <a:t> 들어갈 1 </a:t>
            </a:r>
            <a:r>
              <a:rPr lang="ko-KR" sz="1200" dirty="0" err="1">
                <a:latin typeface="맑은 고딕" charset="0"/>
                <a:ea typeface="맑은 고딕" charset="0"/>
              </a:rPr>
              <a:t>clk</a:t>
            </a:r>
            <a:r>
              <a:rPr lang="ko-KR" sz="1200" dirty="0">
                <a:latin typeface="맑은 고딕" charset="0"/>
                <a:ea typeface="맑은 고딕" charset="0"/>
              </a:rPr>
              <a:t> </a:t>
            </a:r>
            <a:r>
              <a:rPr lang="ko-KR" sz="1200" dirty="0" err="1">
                <a:latin typeface="맑은 고딕" charset="0"/>
                <a:ea typeface="맑은 고딕" charset="0"/>
              </a:rPr>
              <a:t>pulse</a:t>
            </a:r>
            <a:r>
              <a:rPr lang="ko-KR" sz="1200" dirty="0">
                <a:latin typeface="맑은 고딕" charset="0"/>
                <a:ea typeface="맑은 고딕" charset="0"/>
              </a:rPr>
              <a:t> 생성</a:t>
            </a:r>
            <a:endParaRPr lang="ko-KR" altLang="en-US" sz="1200" dirty="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87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66"/>
          <p:cNvSpPr txBox="1">
            <a:spLocks noGrp="1"/>
          </p:cNvSpPr>
          <p:nvPr>
            <p:ph type="title" idx="1"/>
          </p:nvPr>
        </p:nvSpPr>
        <p:spPr>
          <a:xfrm>
            <a:off x="838200" y="365125"/>
            <a:ext cx="10516235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7" name="텍스트 상자 67"/>
          <p:cNvSpPr txBox="1">
            <a:spLocks noGrp="1"/>
          </p:cNvSpPr>
          <p:nvPr/>
        </p:nvSpPr>
        <p:spPr>
          <a:xfrm>
            <a:off x="835025" y="904875"/>
            <a:ext cx="4892040" cy="6216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TESTBENCH</a:t>
            </a:r>
            <a:endParaRPr lang="ko-KR" altLang="en-US"/>
          </a:p>
        </p:txBody>
      </p:sp>
      <p:sp>
        <p:nvSpPr>
          <p:cNvPr id="8" name="텍스트 상자 68"/>
          <p:cNvSpPr txBox="1">
            <a:spLocks/>
          </p:cNvSpPr>
          <p:nvPr/>
        </p:nvSpPr>
        <p:spPr>
          <a:xfrm>
            <a:off x="5481955" y="1216025"/>
            <a:ext cx="4573270" cy="493395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228600" indent="-228600">
              <a:buFont typeface="맑은 고딕"/>
              <a:buChar char="•"/>
            </a:pPr>
            <a:r>
              <a:rPr sz="1600" b="1"/>
              <a:t>DEBOUNCE_LIMIT = 2</a:t>
            </a:r>
            <a:r>
              <a:rPr lang="ko-KR" sz="1600" b="1"/>
              <a:t>; </a:t>
            </a:r>
            <a:r>
              <a:rPr lang="ko-KR" sz="1600" b="0">
                <a:latin typeface="+mn-lt"/>
                <a:ea typeface="+mn-ea"/>
                <a:cs typeface="+mn-cs"/>
              </a:rPr>
              <a:t>20ns(2주기)동안 눌러야 신호 통과</a:t>
            </a:r>
            <a:endParaRPr lang="ko-KR" altLang="en-US" sz="1600" b="0">
              <a:latin typeface="+mn-lt"/>
              <a:ea typeface="+mn-ea"/>
              <a:cs typeface="+mn-cs"/>
            </a:endParaRPr>
          </a:p>
        </p:txBody>
      </p:sp>
      <p:pic>
        <p:nvPicPr>
          <p:cNvPr id="9" name="그림 1" descr="C:/Users/user/AppData/Roaming/PolarisOffice/ETemp/20588_22602520/fImage175983174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00" y="1028700"/>
            <a:ext cx="2806700" cy="5721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240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Waveform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1" y="986118"/>
            <a:ext cx="9145276" cy="17242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5657" y="5007428"/>
            <a:ext cx="8766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 err="1" smtClean="0"/>
              <a:t>i_btn</a:t>
            </a:r>
            <a:r>
              <a:rPr lang="ko-KR" altLang="en-US" dirty="0" smtClean="0"/>
              <a:t> </a:t>
            </a:r>
            <a:r>
              <a:rPr lang="en-US" altLang="ko-KR" dirty="0" smtClean="0"/>
              <a:t>== 1</a:t>
            </a:r>
            <a:r>
              <a:rPr lang="en-US" altLang="ko-KR" dirty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IDLE(2’b00)</a:t>
            </a:r>
            <a:r>
              <a:rPr lang="ko-KR" altLang="en-US" dirty="0"/>
              <a:t> </a:t>
            </a:r>
            <a:r>
              <a:rPr lang="en-US" altLang="ko-KR" dirty="0" smtClean="0"/>
              <a:t>-&gt; START(2’b01)</a:t>
            </a:r>
          </a:p>
          <a:p>
            <a:pPr marL="342900" indent="-342900">
              <a:buFontTx/>
              <a:buAutoNum type="arabicParenR"/>
            </a:pPr>
            <a:r>
              <a:rPr lang="en-US" altLang="ko-KR" dirty="0" err="1" smtClean="0"/>
              <a:t>i_btn</a:t>
            </a:r>
            <a:r>
              <a:rPr lang="en-US" altLang="ko-KR" dirty="0" smtClean="0"/>
              <a:t> == 1,</a:t>
            </a:r>
            <a:r>
              <a:rPr lang="ko-KR" altLang="en-US" dirty="0" smtClean="0"/>
              <a:t> </a:t>
            </a:r>
            <a:r>
              <a:rPr lang="en-US" altLang="ko-KR" dirty="0" smtClean="0"/>
              <a:t>START(2’b01) -&gt; STOP(2’b10)</a:t>
            </a:r>
          </a:p>
          <a:p>
            <a:r>
              <a:rPr lang="en-US" altLang="ko-KR" dirty="0" smtClean="0"/>
              <a:t>3) </a:t>
            </a:r>
            <a:r>
              <a:rPr lang="en-US" altLang="ko-KR" dirty="0" err="1" smtClean="0"/>
              <a:t>o_cnt</a:t>
            </a:r>
            <a:r>
              <a:rPr lang="en-US" altLang="ko-KR" dirty="0" smtClean="0"/>
              <a:t> == 99 -&gt; 1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0" y="2906273"/>
            <a:ext cx="9116697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7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Synthesis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170785"/>
            <a:ext cx="5053149" cy="33656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928679"/>
            <a:ext cx="5053149" cy="16253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70785"/>
            <a:ext cx="5699760" cy="2529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99508" y="4503744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</a:t>
            </a:r>
            <a:r>
              <a:rPr lang="en-US" altLang="ko-KR" b="1" dirty="0" smtClean="0"/>
              <a:t>erformance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52205" y="6488668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Area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8577943" y="3699881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Power</a:t>
            </a:r>
            <a:endParaRPr lang="ko-KR" altLang="en-US" b="1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44251"/>
              </p:ext>
            </p:extLst>
          </p:nvPr>
        </p:nvGraphicFramePr>
        <p:xfrm>
          <a:off x="6441439" y="4303087"/>
          <a:ext cx="5008881" cy="166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627">
                  <a:extLst>
                    <a:ext uri="{9D8B030D-6E8A-4147-A177-3AD203B41FA5}">
                      <a16:colId xmlns:a16="http://schemas.microsoft.com/office/drawing/2014/main" val="852031728"/>
                    </a:ext>
                  </a:extLst>
                </a:gridCol>
                <a:gridCol w="1738328">
                  <a:extLst>
                    <a:ext uri="{9D8B030D-6E8A-4147-A177-3AD203B41FA5}">
                      <a16:colId xmlns:a16="http://schemas.microsoft.com/office/drawing/2014/main" val="3795491637"/>
                    </a:ext>
                  </a:extLst>
                </a:gridCol>
                <a:gridCol w="1600926">
                  <a:extLst>
                    <a:ext uri="{9D8B030D-6E8A-4147-A177-3AD203B41FA5}">
                      <a16:colId xmlns:a16="http://schemas.microsoft.com/office/drawing/2014/main" val="1499445013"/>
                    </a:ext>
                  </a:extLst>
                </a:gridCol>
              </a:tblGrid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PPA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> Metrics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합성 결과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90249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Performance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6,77ps(6.778ns)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Worst-Case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조건 만족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81000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Area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427.158um^2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Cell</a:t>
                      </a:r>
                      <a:r>
                        <a:rPr lang="en-US" altLang="ko-KR" sz="1200" baseline="0" dirty="0" smtClean="0"/>
                        <a:t> 138</a:t>
                      </a:r>
                      <a:r>
                        <a:rPr lang="ko-KR" altLang="en-US" sz="1200" baseline="0" dirty="0" smtClean="0"/>
                        <a:t>개 최적화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3774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Power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11.65uW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Leakage:</a:t>
                      </a:r>
                      <a:r>
                        <a:rPr lang="en-US" altLang="ko-KR" sz="1200" baseline="0" dirty="0" smtClean="0"/>
                        <a:t> 7.96nW / Dynamic: 11.64uW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366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161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APR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309" y="1857830"/>
            <a:ext cx="5119338" cy="181388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309" y="4534852"/>
            <a:ext cx="4243522" cy="19675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91" y="986118"/>
            <a:ext cx="6441001" cy="5748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0309" y="1364343"/>
            <a:ext cx="226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DRC: 0 Viols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50308" y="4165520"/>
            <a:ext cx="4516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Connectivity: no </a:t>
            </a:r>
            <a:r>
              <a:rPr lang="en-US" altLang="ko-KR" b="1" dirty="0" err="1" smtClean="0"/>
              <a:t>probloms</a:t>
            </a:r>
            <a:r>
              <a:rPr lang="en-US" altLang="ko-KR" b="1" dirty="0" smtClean="0"/>
              <a:t> or warnings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140030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Pages>23</Pages>
  <Words>618</Words>
  <Characters>0</Characters>
  <Application>Microsoft Office PowerPoint</Application>
  <DocSecurity>0</DocSecurity>
  <PresentationFormat>와이드스크린</PresentationFormat>
  <Lines>0</Lines>
  <Paragraphs>158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fkGroteskNeue</vt:lpstr>
      <vt:lpstr>Google Sans Text</vt:lpstr>
      <vt:lpstr>나눔스퀘어 네오 Regular</vt:lpstr>
      <vt:lpstr>맑은 고딕</vt:lpstr>
      <vt:lpstr>Arial</vt:lpstr>
      <vt:lpstr>Office 테마</vt:lpstr>
      <vt:lpstr>SoC 102: Design </vt:lpstr>
      <vt:lpstr>PowerPoint 프레젠테이션</vt:lpstr>
      <vt:lpstr>COMB_LOGIC</vt:lpstr>
      <vt:lpstr>COMB_LOGIC</vt:lpstr>
      <vt:lpstr>COMB_LOGIC</vt:lpstr>
      <vt:lpstr>COMB_LOGIC</vt:lpstr>
      <vt:lpstr>COMB_LOGIC</vt:lpstr>
      <vt:lpstr>COMB_LOGIC</vt:lpstr>
      <vt:lpstr>COMB_LOGIC</vt:lpstr>
      <vt:lpstr>COMB_LOGIC</vt:lpstr>
      <vt:lpstr>COMB_LOGIC</vt:lpstr>
      <vt:lpstr>SEQ_LOGIC</vt:lpstr>
      <vt:lpstr>SEQ_LOGIC</vt:lpstr>
      <vt:lpstr>SEQ_LOGIC</vt:lpstr>
      <vt:lpstr>SEQ_LOGIC</vt:lpstr>
      <vt:lpstr>SEQ_LOGIC</vt:lpstr>
      <vt:lpstr>SEQ_LOGIC</vt:lpstr>
      <vt:lpstr>PowerPoint 프레젠테이션</vt:lpstr>
      <vt:lpstr>SEQ_LOGIC</vt:lpstr>
      <vt:lpstr>SEQ_LOGIC</vt:lpstr>
      <vt:lpstr>Design: Waveform</vt:lpstr>
      <vt:lpstr>Synthesis</vt:lpstr>
      <vt:lpstr>APR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USER</cp:lastModifiedBy>
  <cp:revision>8</cp:revision>
  <dcterms:modified xsi:type="dcterms:W3CDTF">2026-08-18T01:06:32Z</dcterms:modified>
  <cp:version>10.105.286.56066</cp:version>
</cp:coreProperties>
</file>