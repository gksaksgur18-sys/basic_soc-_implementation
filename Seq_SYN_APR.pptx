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75" r:id="rId16"/>
  </p:sldMasterIdLst>
  <p:notesMasterIdLst>
    <p:notesMasterId r:id="rId20"/>
  </p:notesMasterIdLst>
  <p:handoutMasterIdLst>
    <p:handoutMasterId r:id="rId18"/>
  </p:handoutMasterIdLst>
  <p:sldIdLst>
    <p:sldId id="270" r:id="rId22"/>
    <p:sldId id="682" r:id="rId24"/>
    <p:sldId id="684" r:id="rId25"/>
    <p:sldId id="685" r:id="rId27"/>
    <p:sldId id="644" r:id="rId29"/>
    <p:sldId id="686" r:id="rId31"/>
    <p:sldId id="683" r:id="rId33"/>
    <p:sldId id="687" r:id="rId35"/>
    <p:sldId id="688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82"/>
            <p14:sldId id="684"/>
            <p14:sldId id="685"/>
            <p14:sldId id="644"/>
            <p14:sldId id="686"/>
            <p14:sldId id="683"/>
            <p14:sldId id="687"/>
            <p14:sldId id="6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3" userDrawn="1">
          <p15:clr>
            <a:srgbClr val="A4A3A4"/>
          </p15:clr>
        </p15:guide>
        <p15:guide id="2" pos="256" userDrawn="1">
          <p15:clr>
            <a:srgbClr val="A4A3A4"/>
          </p15:clr>
        </p15:guide>
        <p15:guide id="3" pos="7400" userDrawn="1">
          <p15:clr>
            <a:srgbClr val="A4A3A4"/>
          </p15:clr>
        </p15:guide>
        <p15:guide id="4" orient="horz" pos="41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1651" autoAdjust="0"/>
    <p:restoredTop sz="95520" autoAdjust="0"/>
  </p:normalViewPr>
  <p:slideViewPr>
    <p:cSldViewPr snapToGrid="0" snapToObjects="1">
      <p:cViewPr varScale="1">
        <p:scale>
          <a:sx n="86" d="100"/>
          <a:sy n="86" d="100"/>
        </p:scale>
        <p:origin x="120" y="234"/>
      </p:cViewPr>
      <p:guideLst>
        <p:guide orient="horz" pos="163"/>
        <p:guide pos="256"/>
        <p:guide pos="7400"/>
        <p:guide orient="horz" pos="410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123" d="100"/>
          <a:sy n="123" d="100"/>
        </p:scale>
        <p:origin x="2448" y="90"/>
      </p:cViewPr>
      <p:guideLst>
        <p:guide orient="horz" pos="163"/>
        <p:guide pos="256"/>
        <p:guide pos="7400"/>
        <p:guide orient="horz" pos="4109"/>
      </p:guideLst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6" Type="http://schemas.openxmlformats.org/officeDocument/2006/relationships/slideMaster" Target="slideMasters/slideMaster1.xml"></Relationship><Relationship Id="rId17" Type="http://schemas.openxmlformats.org/officeDocument/2006/relationships/theme" Target="theme/theme1.xml"></Relationship><Relationship Id="rId18" Type="http://schemas.openxmlformats.org/officeDocument/2006/relationships/handoutMaster" Target="handoutMasters/handoutMaster1.xml"></Relationship><Relationship Id="rId20" Type="http://schemas.openxmlformats.org/officeDocument/2006/relationships/notesMaster" Target="notesMasters/notesMaster1.xml"></Relationship><Relationship Id="rId22" Type="http://schemas.openxmlformats.org/officeDocument/2006/relationships/slide" Target="slides/slide1.xml"></Relationship><Relationship Id="rId24" Type="http://schemas.openxmlformats.org/officeDocument/2006/relationships/slide" Target="slides/slide2.xml"></Relationship><Relationship Id="rId25" Type="http://schemas.openxmlformats.org/officeDocument/2006/relationships/slide" Target="slides/slide3.xml"></Relationship><Relationship Id="rId27" Type="http://schemas.openxmlformats.org/officeDocument/2006/relationships/slide" Target="slides/slide4.xml"></Relationship><Relationship Id="rId29" Type="http://schemas.openxmlformats.org/officeDocument/2006/relationships/slide" Target="slides/slide5.xml"></Relationship><Relationship Id="rId31" Type="http://schemas.openxmlformats.org/officeDocument/2006/relationships/slide" Target="slides/slide6.xml"></Relationship><Relationship Id="rId33" Type="http://schemas.openxmlformats.org/officeDocument/2006/relationships/slide" Target="slides/slide7.xml"></Relationship><Relationship Id="rId35" Type="http://schemas.openxmlformats.org/officeDocument/2006/relationships/slide" Target="slides/slide8.xml"></Relationship><Relationship Id="rId37" Type="http://schemas.openxmlformats.org/officeDocument/2006/relationships/slide" Target="slides/slide9.xml"></Relationship><Relationship Id="rId39" Type="http://schemas.openxmlformats.org/officeDocument/2006/relationships/viewProps" Target="viewProps.xml"></Relationship><Relationship Id="rId40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3820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9699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3295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116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4928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9474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8599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4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0563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FD73-F43C-4CEC-A4BC-4F63297EBA95}" type="datetimeFigureOut">
              <a:rPr lang="en-CA" smtClean="0"/>
              <a:t>2026-07-09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51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1" Type="http://schemas.openxmlformats.org/officeDocument/2006/relationships/slideLayout" Target="../slideLayouts/slideLayout1.xml"></Relationship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notesSlide" Target="../notesSlides/notesSlide3.xml"></Relationship><Relationship Id="rId1" Type="http://schemas.openxmlformats.org/officeDocument/2006/relationships/slideLayout" Target="../slideLayouts/slideLayout13.xml"></Relationship></Relationships>
</file>

<file path=ppt/slides/_rels/slide4.xml.rels><?xml version="1.0" encoding="UTF-8"?>
<Relationships xmlns="http://schemas.openxmlformats.org/package/2006/relationships"><Relationship Id="rId3" Type="http://schemas.openxmlformats.org/officeDocument/2006/relationships/image" Target="../media/image15.png"></Relationship><Relationship Id="rId2" Type="http://schemas.openxmlformats.org/officeDocument/2006/relationships/notesSlide" Target="../notesSlides/notesSlide4.xml"></Relationship><Relationship Id="rId1" Type="http://schemas.openxmlformats.org/officeDocument/2006/relationships/slideLayout" Target="../slideLayouts/slideLayout13.xml"></Relationship></Relationships>
</file>

<file path=ppt/slides/_rels/slide5.xml.rels><?xml version="1.0" encoding="UTF-8"?>
<Relationships xmlns="http://schemas.openxmlformats.org/package/2006/relationships"><Relationship Id="rId3" Type="http://schemas.openxmlformats.org/officeDocument/2006/relationships/image" Target="../media/image16.png"></Relationship><Relationship Id="rId2" Type="http://schemas.openxmlformats.org/officeDocument/2006/relationships/notesSlide" Target="../notesSlides/notesSlide5.xml"></Relationship><Relationship Id="rId1" Type="http://schemas.openxmlformats.org/officeDocument/2006/relationships/slideLayout" Target="../slideLayouts/slideLayout13.xml"></Relationship><Relationship Id="rId5" Type="http://schemas.openxmlformats.org/officeDocument/2006/relationships/image" Target="../media/image18.png"></Relationship><Relationship Id="rId4" Type="http://schemas.openxmlformats.org/officeDocument/2006/relationships/image" Target="../media/image17.png"></Relationship></Relationships>
</file>

<file path=ppt/slides/_rels/slide6.xml.rels><?xml version="1.0" encoding="UTF-8"?>
<Relationships xmlns="http://schemas.openxmlformats.org/package/2006/relationships"><Relationship Id="rId3" Type="http://schemas.openxmlformats.org/officeDocument/2006/relationships/image" Target="../media/image19.png"></Relationship><Relationship Id="rId2" Type="http://schemas.openxmlformats.org/officeDocument/2006/relationships/notesSlide" Target="../notesSlides/notesSlide6.xml"></Relationship><Relationship Id="rId1" Type="http://schemas.openxmlformats.org/officeDocument/2006/relationships/slideLayout" Target="../slideLayouts/slideLayout13.xml"></Relationship></Relationships>
</file>

<file path=ppt/slides/_rels/slide7.xml.rels><?xml version="1.0" encoding="UTF-8"?>
<Relationships xmlns="http://schemas.openxmlformats.org/package/2006/relationships"><Relationship Id="rId3" Type="http://schemas.openxmlformats.org/officeDocument/2006/relationships/image" Target="../media/image20.png"></Relationship><Relationship Id="rId2" Type="http://schemas.openxmlformats.org/officeDocument/2006/relationships/notesSlide" Target="../notesSlides/notesSlide7.xml"></Relationship><Relationship Id="rId1" Type="http://schemas.openxmlformats.org/officeDocument/2006/relationships/slideLayout" Target="../slideLayouts/slideLayout13.xml"></Relationship><Relationship Id="rId4" Type="http://schemas.openxmlformats.org/officeDocument/2006/relationships/image" Target="../media/image21.png"></Relationship></Relationships>
</file>

<file path=ppt/slides/_rels/slide8.xml.rels><?xml version="1.0" encoding="UTF-8"?>
<Relationships xmlns="http://schemas.openxmlformats.org/package/2006/relationships"><Relationship Id="rId3" Type="http://schemas.openxmlformats.org/officeDocument/2006/relationships/image" Target="../media/image22.png"></Relationship><Relationship Id="rId2" Type="http://schemas.openxmlformats.org/officeDocument/2006/relationships/notesSlide" Target="../notesSlides/notesSlide8.xml"></Relationship><Relationship Id="rId1" Type="http://schemas.openxmlformats.org/officeDocument/2006/relationships/slideLayout" Target="../slideLayouts/slideLayout13.xml"></Relationship><Relationship Id="rId5" Type="http://schemas.openxmlformats.org/officeDocument/2006/relationships/image" Target="../media/image24.png"></Relationship><Relationship Id="rId4" Type="http://schemas.openxmlformats.org/officeDocument/2006/relationships/image" Target="../media/image23.png"></Relationship></Relationships>
</file>

<file path=ppt/slides/_rels/slide9.xml.rels><?xml version="1.0" encoding="UTF-8"?>
<Relationships xmlns="http://schemas.openxmlformats.org/package/2006/relationships"><Relationship Id="rId3" Type="http://schemas.openxmlformats.org/officeDocument/2006/relationships/image" Target="../media/image25.png"></Relationship><Relationship Id="rId2" Type="http://schemas.openxmlformats.org/officeDocument/2006/relationships/notesSlide" Target="../notesSlides/notesSlide9.xml"></Relationship><Relationship Id="rId1" Type="http://schemas.openxmlformats.org/officeDocument/2006/relationships/slideLayout" Target="../slideLayouts/slideLayout13.xml"></Relationship><Relationship Id="rId5" Type="http://schemas.openxmlformats.org/officeDocument/2006/relationships/image" Target="../media/image27.png"></Relationship><Relationship Id="rId4" Type="http://schemas.openxmlformats.org/officeDocument/2006/relationships/image" Target="../media/image26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6"/>
            <a:ext cx="7689344" cy="802161"/>
          </a:xfrm>
        </p:spPr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SoC 102: Design</a:t>
            </a:r>
            <a:r>
              <a:rPr lang="en-US" altLang="ko-KR" dirty="0">
                <a:latin typeface="+mj-lt"/>
              </a:rPr>
              <a:t/>
            </a:r>
            <a:br>
              <a:rPr lang="en-US" altLang="ko-KR" dirty="0">
                <a:latin typeface="+mj-lt"/>
              </a:rPr>
            </a:b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3917510"/>
            <a:ext cx="7689344" cy="438950"/>
          </a:xfrm>
        </p:spPr>
        <p:txBody>
          <a:bodyPr/>
          <a:lstStyle/>
          <a:p>
            <a:r>
              <a:rPr lang="ko-KR" altLang="en-US" b="1" dirty="0"/>
              <a:t>중간점검</a:t>
            </a:r>
            <a:r>
              <a:rPr lang="en-US" altLang="ko-KR" b="1" dirty="0"/>
              <a:t>: Basic Sequential Logic Circuit / Synthesis / PNR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6581001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한만혁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100</a:t>
            </a:r>
            <a:r>
              <a:rPr lang="ko-KR" altLang="en-US" dirty="0" smtClean="0"/>
              <a:t>진 카운터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49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</a:t>
            </a:r>
            <a:r>
              <a:rPr lang="en-US" sz="3200" dirty="0" smtClean="0"/>
              <a:t>State Machine</a:t>
            </a:r>
            <a:endParaRPr lang="en-CA" sz="3200" dirty="0"/>
          </a:p>
        </p:txBody>
      </p:sp>
      <p:sp>
        <p:nvSpPr>
          <p:cNvPr id="4" name="순서도: 연결자 3"/>
          <p:cNvSpPr/>
          <p:nvPr/>
        </p:nvSpPr>
        <p:spPr>
          <a:xfrm>
            <a:off x="1750423" y="3135086"/>
            <a:ext cx="1382486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99706" y="3638006"/>
            <a:ext cx="94052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IDLE</a:t>
            </a:r>
            <a:endParaRPr lang="ko-KR" altLang="en-US" dirty="0"/>
          </a:p>
        </p:txBody>
      </p:sp>
      <p:sp>
        <p:nvSpPr>
          <p:cNvPr id="7" name="순서도: 연결자 6"/>
          <p:cNvSpPr/>
          <p:nvPr/>
        </p:nvSpPr>
        <p:spPr>
          <a:xfrm>
            <a:off x="5090161" y="3135086"/>
            <a:ext cx="1382486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292636" y="3618411"/>
            <a:ext cx="94052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RUN</a:t>
            </a:r>
            <a:endParaRPr lang="ko-KR" altLang="en-US" dirty="0"/>
          </a:p>
        </p:txBody>
      </p:sp>
      <p:sp>
        <p:nvSpPr>
          <p:cNvPr id="9" name="순서도: 연결자 8"/>
          <p:cNvSpPr/>
          <p:nvPr/>
        </p:nvSpPr>
        <p:spPr>
          <a:xfrm>
            <a:off x="8429899" y="3135086"/>
            <a:ext cx="1382486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669384" y="3618411"/>
            <a:ext cx="94052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STOP</a:t>
            </a:r>
            <a:endParaRPr lang="ko-KR" altLang="en-US" dirty="0"/>
          </a:p>
        </p:txBody>
      </p:sp>
      <p:cxnSp>
        <p:nvCxnSpPr>
          <p:cNvPr id="12" name="구부러진 연결선 11"/>
          <p:cNvCxnSpPr>
            <a:stCxn id="14" idx="2"/>
            <a:endCxn id="4" idx="2"/>
          </p:cNvCxnSpPr>
          <p:nvPr/>
        </p:nvCxnSpPr>
        <p:spPr>
          <a:xfrm rot="16200000" flipH="1">
            <a:off x="748741" y="2819204"/>
            <a:ext cx="1297970" cy="7053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549" y="2153584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</a:t>
            </a:r>
            <a:r>
              <a:rPr lang="en-US" altLang="ko-KR" dirty="0" err="1" smtClean="0"/>
              <a:t>st_n</a:t>
            </a:r>
            <a:endParaRPr lang="ko-KR" altLang="en-US" dirty="0"/>
          </a:p>
        </p:txBody>
      </p:sp>
      <p:cxnSp>
        <p:nvCxnSpPr>
          <p:cNvPr id="16" name="직선 화살표 연결선 15"/>
          <p:cNvCxnSpPr>
            <a:stCxn id="4" idx="6"/>
            <a:endCxn id="7" idx="2"/>
          </p:cNvCxnSpPr>
          <p:nvPr/>
        </p:nvCxnSpPr>
        <p:spPr>
          <a:xfrm>
            <a:off x="3132909" y="3820886"/>
            <a:ext cx="1957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7" idx="6"/>
            <a:endCxn id="9" idx="2"/>
          </p:cNvCxnSpPr>
          <p:nvPr/>
        </p:nvCxnSpPr>
        <p:spPr>
          <a:xfrm>
            <a:off x="6472647" y="3820886"/>
            <a:ext cx="1957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53889" y="3478125"/>
            <a:ext cx="151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btn_0 </a:t>
            </a:r>
          </a:p>
          <a:p>
            <a:r>
              <a:rPr lang="en-US" altLang="ko-KR" dirty="0" smtClean="0"/>
              <a:t>(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== 1)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794865" y="3497720"/>
            <a:ext cx="151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btn_0 </a:t>
            </a:r>
          </a:p>
          <a:p>
            <a:r>
              <a:rPr lang="en-US" altLang="ko-KR" dirty="0" smtClean="0"/>
              <a:t>(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== 1)</a:t>
            </a:r>
            <a:endParaRPr lang="ko-KR" altLang="en-US" dirty="0"/>
          </a:p>
        </p:txBody>
      </p:sp>
      <p:cxnSp>
        <p:nvCxnSpPr>
          <p:cNvPr id="90" name="직선 화살표 연결선 89"/>
          <p:cNvCxnSpPr>
            <a:stCxn id="9" idx="2"/>
            <a:endCxn id="7" idx="6"/>
          </p:cNvCxnSpPr>
          <p:nvPr/>
        </p:nvCxnSpPr>
        <p:spPr>
          <a:xfrm flipH="1">
            <a:off x="6472647" y="3820886"/>
            <a:ext cx="1957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592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Schematic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73" y="1446239"/>
            <a:ext cx="11165653" cy="300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7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RTL Coding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39349"/>
            <a:ext cx="3719286" cy="128605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978634"/>
            <a:ext cx="4448796" cy="28197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008" y="1140053"/>
            <a:ext cx="5287113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Testbench</a:t>
            </a:r>
            <a:endParaRPr lang="en-CA" sz="3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86118"/>
            <a:ext cx="3630445" cy="553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0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Waveform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61" y="986118"/>
            <a:ext cx="9145276" cy="17242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5657" y="5007428"/>
            <a:ext cx="8766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 err="1" smtClean="0"/>
              <a:t>i_btn</a:t>
            </a:r>
            <a:r>
              <a:rPr lang="ko-KR" altLang="en-US" dirty="0" smtClean="0"/>
              <a:t> </a:t>
            </a:r>
            <a:r>
              <a:rPr lang="en-US" altLang="ko-KR" dirty="0" smtClean="0"/>
              <a:t>== 1</a:t>
            </a:r>
            <a:r>
              <a:rPr lang="en-US" altLang="ko-KR" dirty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IDLE(2’b00)</a:t>
            </a:r>
            <a:r>
              <a:rPr lang="ko-KR" altLang="en-US" dirty="0"/>
              <a:t> </a:t>
            </a:r>
            <a:r>
              <a:rPr lang="en-US" altLang="ko-KR" dirty="0" smtClean="0"/>
              <a:t>-&gt; START(2’b01)</a:t>
            </a:r>
          </a:p>
          <a:p>
            <a:pPr marL="342900" indent="-342900">
              <a:buFontTx/>
              <a:buAutoNum type="arabicParenR"/>
            </a:pPr>
            <a:r>
              <a:rPr lang="en-US" altLang="ko-KR" dirty="0" err="1" smtClean="0"/>
              <a:t>i_btn</a:t>
            </a:r>
            <a:r>
              <a:rPr lang="en-US" altLang="ko-KR" dirty="0" smtClean="0"/>
              <a:t> == 1,</a:t>
            </a:r>
            <a:r>
              <a:rPr lang="ko-KR" altLang="en-US" dirty="0" smtClean="0"/>
              <a:t> </a:t>
            </a:r>
            <a:r>
              <a:rPr lang="en-US" altLang="ko-KR" dirty="0" smtClean="0"/>
              <a:t>START(2’b01) -&gt; STOP(2’b10)</a:t>
            </a:r>
          </a:p>
          <a:p>
            <a:r>
              <a:rPr lang="en-US" altLang="ko-KR" dirty="0" smtClean="0"/>
              <a:t>3) </a:t>
            </a:r>
            <a:r>
              <a:rPr lang="en-US" altLang="ko-KR" dirty="0" err="1" smtClean="0"/>
              <a:t>o_cnt</a:t>
            </a:r>
            <a:r>
              <a:rPr lang="en-US" altLang="ko-KR" dirty="0" smtClean="0"/>
              <a:t> == 99 -&gt; 1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940" y="2906273"/>
            <a:ext cx="9116697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76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Synthesis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1170785"/>
            <a:ext cx="5053149" cy="336565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928679"/>
            <a:ext cx="5053149" cy="16253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70785"/>
            <a:ext cx="5699760" cy="25290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99508" y="4503744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</a:t>
            </a:r>
            <a:r>
              <a:rPr lang="en-US" altLang="ko-KR" b="1" dirty="0" smtClean="0"/>
              <a:t>erformance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52205" y="6488668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Area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8577943" y="3699881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Power</a:t>
            </a:r>
            <a:endParaRPr lang="ko-KR" altLang="en-US" b="1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344251"/>
              </p:ext>
            </p:extLst>
          </p:nvPr>
        </p:nvGraphicFramePr>
        <p:xfrm>
          <a:off x="6441439" y="4303087"/>
          <a:ext cx="5008881" cy="166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627">
                  <a:extLst>
                    <a:ext uri="{9D8B030D-6E8A-4147-A177-3AD203B41FA5}">
                      <a16:colId xmlns:a16="http://schemas.microsoft.com/office/drawing/2014/main" val="852031728"/>
                    </a:ext>
                  </a:extLst>
                </a:gridCol>
                <a:gridCol w="1738328">
                  <a:extLst>
                    <a:ext uri="{9D8B030D-6E8A-4147-A177-3AD203B41FA5}">
                      <a16:colId xmlns:a16="http://schemas.microsoft.com/office/drawing/2014/main" val="3795491637"/>
                    </a:ext>
                  </a:extLst>
                </a:gridCol>
                <a:gridCol w="1600926">
                  <a:extLst>
                    <a:ext uri="{9D8B030D-6E8A-4147-A177-3AD203B41FA5}">
                      <a16:colId xmlns:a16="http://schemas.microsoft.com/office/drawing/2014/main" val="1499445013"/>
                    </a:ext>
                  </a:extLst>
                </a:gridCol>
              </a:tblGrid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PPA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> Metrics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합성 결과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990249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Performance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6,77ps(6.778ns)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Worst-Case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조건 만족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810005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Area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427.158um^2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Cell</a:t>
                      </a:r>
                      <a:r>
                        <a:rPr lang="en-US" altLang="ko-KR" sz="1200" baseline="0" dirty="0" smtClean="0"/>
                        <a:t> 138</a:t>
                      </a:r>
                      <a:r>
                        <a:rPr lang="ko-KR" altLang="en-US" sz="1200" baseline="0" dirty="0" smtClean="0"/>
                        <a:t>개 최적화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37745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Power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11.65uW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Leakage:</a:t>
                      </a:r>
                      <a:r>
                        <a:rPr lang="en-US" altLang="ko-KR" sz="1200" baseline="0" dirty="0" smtClean="0"/>
                        <a:t> 7.96nW / Dynamic: 11.64uW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366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16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APR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309" y="1857830"/>
            <a:ext cx="5119338" cy="181388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309" y="4534852"/>
            <a:ext cx="4243522" cy="196754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91" y="986118"/>
            <a:ext cx="6441001" cy="5748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0309" y="1364343"/>
            <a:ext cx="226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DRC: 0 Viols</a:t>
            </a:r>
            <a:endParaRPr lang="ko-KR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850308" y="4165520"/>
            <a:ext cx="4516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Connectivity: no </a:t>
            </a:r>
            <a:r>
              <a:rPr lang="en-US" altLang="ko-KR" b="1" dirty="0" err="1" smtClean="0"/>
              <a:t>probloms</a:t>
            </a:r>
            <a:r>
              <a:rPr lang="en-US" altLang="ko-KR" b="1" dirty="0" smtClean="0"/>
              <a:t> or warnings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140030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9</Pages>
  <Paragraphs>82</Paragraphs>
  <Words>194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Seungan Woo</dc:creator>
  <cp:lastModifiedBy>한만혁</cp:lastModifiedBy>
  <dc:title>LED Control with FPGA</dc:title>
  <cp:version>10.105.286.56066</cp:version>
  <dcterms:modified xsi:type="dcterms:W3CDTF">2026-07-09T02:27:13Z</dcterms:modified>
</cp:coreProperties>
</file>