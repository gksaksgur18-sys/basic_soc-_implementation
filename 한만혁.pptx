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70" r:id="rId2"/>
    <p:sldId id="682" r:id="rId3"/>
    <p:sldId id="684" r:id="rId4"/>
    <p:sldId id="685" r:id="rId5"/>
    <p:sldId id="644" r:id="rId6"/>
    <p:sldId id="686" r:id="rId7"/>
    <p:sldId id="683" r:id="rId8"/>
    <p:sldId id="687" r:id="rId9"/>
    <p:sldId id="688" r:id="rId10"/>
    <p:sldId id="689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4D09D44-E933-426A-8F7A-A670F4423266}">
          <p14:sldIdLst>
            <p14:sldId id="270"/>
            <p14:sldId id="682"/>
            <p14:sldId id="684"/>
            <p14:sldId id="685"/>
            <p14:sldId id="644"/>
            <p14:sldId id="686"/>
            <p14:sldId id="683"/>
            <p14:sldId id="687"/>
            <p14:sldId id="688"/>
            <p14:sldId id="6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9"/>
    <a:srgbClr val="1DCAD3"/>
    <a:srgbClr val="147ED1"/>
    <a:srgbClr val="147BD1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5520" autoAdjust="0"/>
  </p:normalViewPr>
  <p:slideViewPr>
    <p:cSldViewPr snapToGrid="0" showGuides="1">
      <p:cViewPr varScale="1">
        <p:scale>
          <a:sx n="86" d="100"/>
          <a:sy n="86" d="100"/>
        </p:scale>
        <p:origin x="120" y="234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23" d="100"/>
          <a:sy n="123" d="100"/>
        </p:scale>
        <p:origin x="244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3820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9699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3295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1116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492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9474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8599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2557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4.gi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BC1CFEA-8870-7DAA-E9D9-0153330F92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09" y="196937"/>
            <a:ext cx="1185562" cy="224451"/>
          </a:xfrm>
          <a:prstGeom prst="rect">
            <a:avLst/>
          </a:prstGeom>
        </p:spPr>
      </p:pic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A601D2-EC58-C9D9-66C5-E3C750788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r>
              <a:rPr lang="ko-KR" altLang="en-US" dirty="0"/>
              <a:t>마스터 제목 스타일 편집</a:t>
            </a:r>
            <a:endParaRPr lang="en-CA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5F62F2-10CB-21B8-E968-6E1F717F3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588"/>
            <a:ext cx="10515600" cy="5056375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CA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975F2A-690B-8E35-55A5-09EC8C98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1FD73-F43C-4CEC-A4BC-4F63297EBA95}" type="datetimeFigureOut">
              <a:rPr lang="en-CA" smtClean="0"/>
              <a:t>2026-07-09</a:t>
            </a:fld>
            <a:endParaRPr lang="en-CA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20777A-56DA-4165-A342-6D195714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3C9D3-AB74-5CC7-9BFB-48CE3DFE4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13B5-75D4-45EF-8263-FECEAD7B51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651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1233150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171111"/>
            <a:ext cx="11233150" cy="494833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 marL="672783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2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3pPr>
            <a:lvl4pPr marL="1293178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8068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  <p:sldLayoutId id="2147483673" r:id="rId13"/>
    <p:sldLayoutId id="2147483674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6"/>
            <a:ext cx="7689344" cy="802161"/>
          </a:xfrm>
        </p:spPr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SoC 102: Design</a:t>
            </a:r>
            <a:r>
              <a:rPr lang="en-US" altLang="ko-KR" dirty="0">
                <a:latin typeface="+mj-lt"/>
              </a:rPr>
              <a:t/>
            </a:r>
            <a:br>
              <a:rPr lang="en-US" altLang="ko-KR" dirty="0">
                <a:latin typeface="+mj-lt"/>
              </a:rPr>
            </a:br>
            <a:endParaRPr lang="ko-KR" altLang="en-US" b="1" dirty="0">
              <a:latin typeface="+mj-lt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6155" y="3917510"/>
            <a:ext cx="7689344" cy="438950"/>
          </a:xfrm>
        </p:spPr>
        <p:txBody>
          <a:bodyPr/>
          <a:lstStyle/>
          <a:p>
            <a:r>
              <a:rPr lang="ko-KR" altLang="en-US" b="1" dirty="0"/>
              <a:t>중간점검</a:t>
            </a:r>
            <a:r>
              <a:rPr lang="en-US" altLang="ko-KR" b="1" dirty="0"/>
              <a:t>: Basic Sequential Logic Circuit / Synthesis / PNR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0" y="6581001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 smtClean="0"/>
              <a:t>한만혁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D2A5D-7D2F-4C4F-BAD8-7DE349F6A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74EA-E266-46E5-B93E-1A12E099C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0000" y="4961780"/>
            <a:ext cx="7688263" cy="500352"/>
          </a:xfrm>
        </p:spPr>
        <p:txBody>
          <a:bodyPr>
            <a:normAutofit lnSpcReduction="10000"/>
          </a:bodyPr>
          <a:lstStyle/>
          <a:p>
            <a:r>
              <a:rPr lang="en-US" altLang="ko-KR" dirty="0" smtClean="0"/>
              <a:t>100</a:t>
            </a:r>
            <a:r>
              <a:rPr lang="ko-KR" altLang="en-US" dirty="0" smtClean="0"/>
              <a:t>진 카운터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149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Design: </a:t>
            </a:r>
            <a:r>
              <a:rPr lang="en-US" sz="3200" dirty="0" smtClean="0"/>
              <a:t>State Machine</a:t>
            </a:r>
            <a:endParaRPr lang="en-CA" sz="3200" dirty="0"/>
          </a:p>
        </p:txBody>
      </p:sp>
      <p:sp>
        <p:nvSpPr>
          <p:cNvPr id="4" name="순서도: 연결자 3"/>
          <p:cNvSpPr/>
          <p:nvPr/>
        </p:nvSpPr>
        <p:spPr>
          <a:xfrm>
            <a:off x="1750423" y="3135086"/>
            <a:ext cx="1382486" cy="1371600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99706" y="3638006"/>
            <a:ext cx="940526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 IDLE</a:t>
            </a:r>
            <a:endParaRPr lang="ko-KR" altLang="en-US" dirty="0"/>
          </a:p>
        </p:txBody>
      </p:sp>
      <p:sp>
        <p:nvSpPr>
          <p:cNvPr id="7" name="순서도: 연결자 6"/>
          <p:cNvSpPr/>
          <p:nvPr/>
        </p:nvSpPr>
        <p:spPr>
          <a:xfrm>
            <a:off x="5090161" y="3135086"/>
            <a:ext cx="1382486" cy="1371600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292636" y="3618411"/>
            <a:ext cx="940526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 RUN</a:t>
            </a:r>
            <a:endParaRPr lang="ko-KR" altLang="en-US" dirty="0"/>
          </a:p>
        </p:txBody>
      </p:sp>
      <p:sp>
        <p:nvSpPr>
          <p:cNvPr id="9" name="순서도: 연결자 8"/>
          <p:cNvSpPr/>
          <p:nvPr/>
        </p:nvSpPr>
        <p:spPr>
          <a:xfrm>
            <a:off x="8429899" y="3135086"/>
            <a:ext cx="1382486" cy="1371600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8669384" y="3618411"/>
            <a:ext cx="940526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STOP</a:t>
            </a:r>
            <a:endParaRPr lang="ko-KR" altLang="en-US" dirty="0"/>
          </a:p>
        </p:txBody>
      </p:sp>
      <p:cxnSp>
        <p:nvCxnSpPr>
          <p:cNvPr id="12" name="구부러진 연결선 11"/>
          <p:cNvCxnSpPr>
            <a:stCxn id="14" idx="2"/>
            <a:endCxn id="4" idx="2"/>
          </p:cNvCxnSpPr>
          <p:nvPr/>
        </p:nvCxnSpPr>
        <p:spPr>
          <a:xfrm rot="16200000" flipH="1">
            <a:off x="748741" y="2819204"/>
            <a:ext cx="1297970" cy="70539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3549" y="2153584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r</a:t>
            </a:r>
            <a:r>
              <a:rPr lang="en-US" altLang="ko-KR" dirty="0" err="1" smtClean="0"/>
              <a:t>st_n</a:t>
            </a:r>
            <a:endParaRPr lang="ko-KR" altLang="en-US" dirty="0"/>
          </a:p>
        </p:txBody>
      </p:sp>
      <p:cxnSp>
        <p:nvCxnSpPr>
          <p:cNvPr id="16" name="직선 화살표 연결선 15"/>
          <p:cNvCxnSpPr>
            <a:stCxn id="4" idx="6"/>
            <a:endCxn id="7" idx="2"/>
          </p:cNvCxnSpPr>
          <p:nvPr/>
        </p:nvCxnSpPr>
        <p:spPr>
          <a:xfrm>
            <a:off x="3132909" y="3820886"/>
            <a:ext cx="19572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>
            <a:stCxn id="7" idx="6"/>
            <a:endCxn id="9" idx="2"/>
          </p:cNvCxnSpPr>
          <p:nvPr/>
        </p:nvCxnSpPr>
        <p:spPr>
          <a:xfrm>
            <a:off x="6472647" y="3820886"/>
            <a:ext cx="19572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53889" y="3478125"/>
            <a:ext cx="1515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  btn_0 </a:t>
            </a:r>
          </a:p>
          <a:p>
            <a:r>
              <a:rPr lang="en-US" altLang="ko-KR" dirty="0" smtClean="0"/>
              <a:t>(</a:t>
            </a:r>
            <a:r>
              <a:rPr lang="en-US" altLang="ko-KR" dirty="0" err="1" smtClean="0"/>
              <a:t>btn</a:t>
            </a:r>
            <a:r>
              <a:rPr lang="en-US" altLang="ko-KR" dirty="0" smtClean="0"/>
              <a:t> == 1)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794865" y="3497720"/>
            <a:ext cx="1515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  btn_0 </a:t>
            </a:r>
          </a:p>
          <a:p>
            <a:r>
              <a:rPr lang="en-US" altLang="ko-KR" dirty="0" smtClean="0"/>
              <a:t>(</a:t>
            </a:r>
            <a:r>
              <a:rPr lang="en-US" altLang="ko-KR" dirty="0" err="1" smtClean="0"/>
              <a:t>btn</a:t>
            </a:r>
            <a:r>
              <a:rPr lang="en-US" altLang="ko-KR" dirty="0" smtClean="0"/>
              <a:t> == 1)</a:t>
            </a:r>
            <a:endParaRPr lang="ko-KR" altLang="en-US" dirty="0"/>
          </a:p>
        </p:txBody>
      </p:sp>
      <p:cxnSp>
        <p:nvCxnSpPr>
          <p:cNvPr id="90" name="직선 화살표 연결선 89"/>
          <p:cNvCxnSpPr>
            <a:stCxn id="9" idx="2"/>
            <a:endCxn id="7" idx="6"/>
          </p:cNvCxnSpPr>
          <p:nvPr/>
        </p:nvCxnSpPr>
        <p:spPr>
          <a:xfrm flipH="1">
            <a:off x="6472647" y="3820886"/>
            <a:ext cx="19572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592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Design: Schematic</a:t>
            </a:r>
            <a:endParaRPr lang="en-CA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73" y="1446239"/>
            <a:ext cx="11165653" cy="300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872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Design: RTL Coding</a:t>
            </a:r>
            <a:endParaRPr lang="en-CA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39349"/>
            <a:ext cx="3719286" cy="128605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978634"/>
            <a:ext cx="4448796" cy="281979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008" y="1140053"/>
            <a:ext cx="5287113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Testbench</a:t>
            </a:r>
            <a:endParaRPr lang="en-CA" sz="32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986118"/>
            <a:ext cx="3630445" cy="553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406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Design: Waveform</a:t>
            </a:r>
            <a:endParaRPr lang="en-CA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361" y="986118"/>
            <a:ext cx="9145276" cy="17242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5657" y="5007428"/>
            <a:ext cx="87666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altLang="ko-KR" dirty="0" err="1" smtClean="0"/>
              <a:t>i_btn</a:t>
            </a:r>
            <a:r>
              <a:rPr lang="ko-KR" altLang="en-US" dirty="0" smtClean="0"/>
              <a:t> </a:t>
            </a:r>
            <a:r>
              <a:rPr lang="en-US" altLang="ko-KR" dirty="0" smtClean="0"/>
              <a:t>== 1</a:t>
            </a:r>
            <a:r>
              <a:rPr lang="en-US" altLang="ko-KR" dirty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IDLE(2’b00)</a:t>
            </a:r>
            <a:r>
              <a:rPr lang="ko-KR" altLang="en-US" dirty="0"/>
              <a:t> </a:t>
            </a:r>
            <a:r>
              <a:rPr lang="en-US" altLang="ko-KR" dirty="0" smtClean="0"/>
              <a:t>-&gt; START(2’b01)</a:t>
            </a:r>
          </a:p>
          <a:p>
            <a:pPr marL="342900" indent="-342900">
              <a:buFontTx/>
              <a:buAutoNum type="arabicParenR"/>
            </a:pPr>
            <a:r>
              <a:rPr lang="en-US" altLang="ko-KR" dirty="0" err="1" smtClean="0"/>
              <a:t>i_btn</a:t>
            </a:r>
            <a:r>
              <a:rPr lang="en-US" altLang="ko-KR" dirty="0" smtClean="0"/>
              <a:t> == 1,</a:t>
            </a:r>
            <a:r>
              <a:rPr lang="ko-KR" altLang="en-US" dirty="0" smtClean="0"/>
              <a:t> </a:t>
            </a:r>
            <a:r>
              <a:rPr lang="en-US" altLang="ko-KR" dirty="0" smtClean="0"/>
              <a:t>START(2’b01) -&gt; STOP(2’b10)</a:t>
            </a:r>
          </a:p>
          <a:p>
            <a:r>
              <a:rPr lang="en-US" altLang="ko-KR" dirty="0" smtClean="0"/>
              <a:t>3) </a:t>
            </a:r>
            <a:r>
              <a:rPr lang="en-US" altLang="ko-KR" dirty="0" err="1" smtClean="0"/>
              <a:t>o_cnt</a:t>
            </a:r>
            <a:r>
              <a:rPr lang="en-US" altLang="ko-KR" dirty="0" smtClean="0"/>
              <a:t> == 99 -&gt; 1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940" y="2906273"/>
            <a:ext cx="9116697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976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Synthesis</a:t>
            </a:r>
            <a:endParaRPr lang="en-CA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1170785"/>
            <a:ext cx="5053149" cy="336565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4928679"/>
            <a:ext cx="5053149" cy="162537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170785"/>
            <a:ext cx="5699760" cy="25290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99508" y="4503744"/>
            <a:ext cx="2429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</a:t>
            </a:r>
            <a:r>
              <a:rPr lang="en-US" altLang="ko-KR" b="1" dirty="0" smtClean="0"/>
              <a:t>erformance</a:t>
            </a:r>
            <a:endParaRPr lang="ko-KR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952205" y="6488668"/>
            <a:ext cx="2429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Area</a:t>
            </a:r>
            <a:endParaRPr lang="ko-KR" alt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8577943" y="3699881"/>
            <a:ext cx="2429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Power</a:t>
            </a:r>
            <a:endParaRPr lang="ko-KR" altLang="en-US" b="1" dirty="0"/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344251"/>
              </p:ext>
            </p:extLst>
          </p:nvPr>
        </p:nvGraphicFramePr>
        <p:xfrm>
          <a:off x="6441439" y="4303087"/>
          <a:ext cx="5008881" cy="1662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627">
                  <a:extLst>
                    <a:ext uri="{9D8B030D-6E8A-4147-A177-3AD203B41FA5}">
                      <a16:colId xmlns:a16="http://schemas.microsoft.com/office/drawing/2014/main" val="852031728"/>
                    </a:ext>
                  </a:extLst>
                </a:gridCol>
                <a:gridCol w="1738328">
                  <a:extLst>
                    <a:ext uri="{9D8B030D-6E8A-4147-A177-3AD203B41FA5}">
                      <a16:colId xmlns:a16="http://schemas.microsoft.com/office/drawing/2014/main" val="3795491637"/>
                    </a:ext>
                  </a:extLst>
                </a:gridCol>
                <a:gridCol w="1600926">
                  <a:extLst>
                    <a:ext uri="{9D8B030D-6E8A-4147-A177-3AD203B41FA5}">
                      <a16:colId xmlns:a16="http://schemas.microsoft.com/office/drawing/2014/main" val="1499445013"/>
                    </a:ext>
                  </a:extLst>
                </a:gridCol>
              </a:tblGrid>
              <a:tr h="3742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PPA</a:t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</a:rPr>
                        <a:t> Metrics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합성 결과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비고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990249"/>
                  </a:ext>
                </a:extLst>
              </a:tr>
              <a:tr h="3742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Performance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6,77ps(6.778ns)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Worst-Case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smtClean="0"/>
                        <a:t>조건 만족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810005"/>
                  </a:ext>
                </a:extLst>
              </a:tr>
              <a:tr h="3742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Area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427.158um^2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Cell</a:t>
                      </a:r>
                      <a:r>
                        <a:rPr lang="en-US" altLang="ko-KR" sz="1200" baseline="0" dirty="0" smtClean="0"/>
                        <a:t> 138</a:t>
                      </a:r>
                      <a:r>
                        <a:rPr lang="ko-KR" altLang="en-US" sz="1200" baseline="0" dirty="0" smtClean="0"/>
                        <a:t>개 최적화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937745"/>
                  </a:ext>
                </a:extLst>
              </a:tr>
              <a:tr h="3742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Power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11.65uW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Leakage:</a:t>
                      </a:r>
                      <a:r>
                        <a:rPr lang="en-US" altLang="ko-KR" sz="1200" baseline="0" dirty="0" smtClean="0"/>
                        <a:t> 7.96nW / Dynamic: 11.64uW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366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3161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APR</a:t>
            </a:r>
            <a:endParaRPr lang="en-CA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309" y="1857830"/>
            <a:ext cx="5119338" cy="181388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309" y="4534852"/>
            <a:ext cx="4243522" cy="196754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91" y="986118"/>
            <a:ext cx="6441001" cy="57485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0309" y="1364343"/>
            <a:ext cx="2264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DRC: 0 Viols</a:t>
            </a:r>
            <a:endParaRPr lang="ko-KR" alt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850308" y="4165520"/>
            <a:ext cx="4516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Connectivity: no </a:t>
            </a:r>
            <a:r>
              <a:rPr lang="en-US" altLang="ko-KR" b="1" dirty="0" err="1" smtClean="0"/>
              <a:t>probloms</a:t>
            </a:r>
            <a:r>
              <a:rPr lang="en-US" altLang="ko-KR" b="1" dirty="0" smtClean="0"/>
              <a:t> or warnings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414003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/>
              <a:t>자기평가</a:t>
            </a:r>
            <a:endParaRPr lang="en-CA" sz="32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F6C305A-EB4A-4C0B-8687-8EC574AF97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064047"/>
              </p:ext>
            </p:extLst>
          </p:nvPr>
        </p:nvGraphicFramePr>
        <p:xfrm>
          <a:off x="838200" y="2098471"/>
          <a:ext cx="4152899" cy="2476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22452">
                  <a:extLst>
                    <a:ext uri="{9D8B030D-6E8A-4147-A177-3AD203B41FA5}">
                      <a16:colId xmlns:a16="http://schemas.microsoft.com/office/drawing/2014/main" val="1553284289"/>
                    </a:ext>
                  </a:extLst>
                </a:gridCol>
                <a:gridCol w="824869">
                  <a:extLst>
                    <a:ext uri="{9D8B030D-6E8A-4147-A177-3AD203B41FA5}">
                      <a16:colId xmlns:a16="http://schemas.microsoft.com/office/drawing/2014/main" val="1020811722"/>
                    </a:ext>
                  </a:extLst>
                </a:gridCol>
                <a:gridCol w="1205578">
                  <a:extLst>
                    <a:ext uri="{9D8B030D-6E8A-4147-A177-3AD203B41FA5}">
                      <a16:colId xmlns:a16="http://schemas.microsoft.com/office/drawing/2014/main" val="119694302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u="none" strike="noStrike">
                          <a:effectLst/>
                        </a:rPr>
                        <a:t>수강여부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u="none" strike="noStrike">
                          <a:effectLst/>
                        </a:rPr>
                        <a:t>숙련도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</a:rPr>
                        <a:t>상</a:t>
                      </a:r>
                      <a:r>
                        <a:rPr lang="en-US" altLang="ko-KR" sz="1100" u="none" strike="noStrike">
                          <a:effectLst/>
                        </a:rPr>
                        <a:t>/</a:t>
                      </a:r>
                      <a:r>
                        <a:rPr lang="ko-KR" altLang="en-US" sz="1100" u="none" strike="noStrike">
                          <a:effectLst/>
                        </a:rPr>
                        <a:t>중</a:t>
                      </a:r>
                      <a:r>
                        <a:rPr lang="en-US" altLang="ko-KR" sz="1100" u="none" strike="noStrike">
                          <a:effectLst/>
                        </a:rPr>
                        <a:t>/</a:t>
                      </a:r>
                      <a:r>
                        <a:rPr lang="ko-KR" altLang="en-US" sz="1100" u="none" strike="noStrike">
                          <a:effectLst/>
                        </a:rPr>
                        <a:t>하</a:t>
                      </a:r>
                      <a:r>
                        <a:rPr lang="en-US" altLang="ko-KR" sz="1100" u="none" strike="noStrike">
                          <a:effectLst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66818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>
                          <a:effectLst/>
                        </a:rPr>
                        <a:t>회로이론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중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93971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 dirty="0">
                          <a:effectLst/>
                        </a:rPr>
                        <a:t>전자회로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03120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>
                          <a:effectLst/>
                        </a:rPr>
                        <a:t>디지털논리회로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중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6933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>
                          <a:effectLst/>
                        </a:rPr>
                        <a:t>디지털 시스템설계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178938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>
                          <a:effectLst/>
                        </a:rPr>
                        <a:t>신호와 시스템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중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25127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HDL </a:t>
                      </a:r>
                      <a:r>
                        <a:rPr lang="ko-KR" altLang="en-US" sz="1100" u="none" strike="noStrike">
                          <a:effectLst/>
                        </a:rPr>
                        <a:t>설계언어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Verilog/VHDL)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중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59351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>
                          <a:effectLst/>
                        </a:rPr>
                        <a:t>컴퓨터구조론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475610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>
                          <a:effectLst/>
                        </a:rPr>
                        <a:t>디지털통신공학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중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856874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VLSI </a:t>
                      </a:r>
                      <a:r>
                        <a:rPr lang="ko-KR" altLang="en-US" sz="1100" u="none" strike="noStrike" dirty="0">
                          <a:effectLst/>
                        </a:rPr>
                        <a:t>설계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106181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650867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</a:t>
                      </a:r>
                      <a:r>
                        <a:rPr lang="ko-KR" altLang="en-US" sz="1100" u="none" strike="noStrike">
                          <a:effectLst/>
                        </a:rPr>
                        <a:t>언어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∆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10789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>
                          <a:effectLst/>
                        </a:rPr>
                        <a:t>마이크로프로세서프로그래밍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7246254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4978940-024D-46E9-A9AC-3341CC47A4F9}"/>
              </a:ext>
            </a:extLst>
          </p:cNvPr>
          <p:cNvSpPr txBox="1"/>
          <p:nvPr/>
        </p:nvSpPr>
        <p:spPr>
          <a:xfrm>
            <a:off x="6096000" y="2690336"/>
            <a:ext cx="50445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전공</a:t>
            </a:r>
            <a:r>
              <a:rPr lang="en-US" altLang="ko-KR" dirty="0"/>
              <a:t>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전자공학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mtClean="0"/>
              <a:t>직무희망</a:t>
            </a:r>
            <a:r>
              <a:rPr lang="ko-KR" altLang="en-US" dirty="0" smtClean="0"/>
              <a:t> </a:t>
            </a:r>
            <a:r>
              <a:rPr lang="en-US" altLang="ko-KR" dirty="0" smtClean="0"/>
              <a:t>- PI</a:t>
            </a:r>
            <a:r>
              <a:rPr lang="en-US" altLang="ko-KR" dirty="0"/>
              <a:t>, </a:t>
            </a:r>
            <a:r>
              <a:rPr lang="en-US" altLang="ko-KR" dirty="0" smtClean="0"/>
              <a:t>PD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mtClean="0"/>
              <a:t>관심영역</a:t>
            </a:r>
            <a:r>
              <a:rPr lang="en-US" altLang="ko-KR" dirty="0"/>
              <a:t>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디지털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방학 </a:t>
            </a:r>
            <a:r>
              <a:rPr lang="ko-KR" altLang="en-US" dirty="0" smtClean="0"/>
              <a:t>학습계획 </a:t>
            </a:r>
            <a:r>
              <a:rPr lang="en-US" altLang="ko-KR" dirty="0" smtClean="0"/>
              <a:t>– RTL Design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Git</a:t>
            </a:r>
            <a:r>
              <a:rPr lang="en-US" dirty="0"/>
              <a:t> </a:t>
            </a:r>
            <a:r>
              <a:rPr lang="ko-KR" altLang="en-US" dirty="0" smtClean="0"/>
              <a:t>주소 </a:t>
            </a:r>
            <a:r>
              <a:rPr lang="en-US" altLang="ko-KR" dirty="0" smtClean="0"/>
              <a:t>- </a:t>
            </a:r>
            <a:r>
              <a:rPr lang="en-US" altLang="ko-KR" dirty="0"/>
              <a:t>gksaksgur18@gmail.com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0437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11977</TotalTime>
  <Words>194</Words>
  <Application>Microsoft Office PowerPoint</Application>
  <PresentationFormat>와이드스크린</PresentationFormat>
  <Paragraphs>82</Paragraphs>
  <Slides>10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fkGroteskNeue</vt:lpstr>
      <vt:lpstr>나눔스퀘어 네오 Regular</vt:lpstr>
      <vt:lpstr>맑은 고딕</vt:lpstr>
      <vt:lpstr>Arial</vt:lpstr>
      <vt:lpstr>Calibri</vt:lpstr>
      <vt:lpstr>Office 테마</vt:lpstr>
      <vt:lpstr>SoC 102: Design </vt:lpstr>
      <vt:lpstr>PowerPoint 프레젠테이션</vt:lpstr>
      <vt:lpstr>Design: State Machine</vt:lpstr>
      <vt:lpstr>Design: Schematic</vt:lpstr>
      <vt:lpstr>Design: RTL Coding</vt:lpstr>
      <vt:lpstr>Testbench</vt:lpstr>
      <vt:lpstr>Design: Waveform</vt:lpstr>
      <vt:lpstr>Synthesis</vt:lpstr>
      <vt:lpstr>APR</vt:lpstr>
      <vt:lpstr>자기평가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FPGA</dc:title>
  <dc:creator>Seungan Woo</dc:creator>
  <cp:lastModifiedBy>USER</cp:lastModifiedBy>
  <cp:revision>658</cp:revision>
  <dcterms:created xsi:type="dcterms:W3CDTF">2024-09-20T05:42:48Z</dcterms:created>
  <dcterms:modified xsi:type="dcterms:W3CDTF">2026-07-09T02:27:13Z</dcterms:modified>
</cp:coreProperties>
</file>